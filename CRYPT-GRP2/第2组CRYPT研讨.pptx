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0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1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3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70" r:id="rId3"/>
    <p:sldId id="271" r:id="rId4"/>
    <p:sldId id="257" r:id="rId5"/>
    <p:sldId id="292" r:id="rId6"/>
    <p:sldId id="272" r:id="rId7"/>
    <p:sldId id="275" r:id="rId8"/>
    <p:sldId id="276" r:id="rId9"/>
    <p:sldId id="277" r:id="rId10"/>
    <p:sldId id="279" r:id="rId11"/>
    <p:sldId id="280" r:id="rId12"/>
    <p:sldId id="273" r:id="rId13"/>
    <p:sldId id="278" r:id="rId14"/>
    <p:sldId id="259" r:id="rId15"/>
    <p:sldId id="281" r:id="rId16"/>
    <p:sldId id="282" r:id="rId17"/>
    <p:sldId id="274" r:id="rId18"/>
    <p:sldId id="283" r:id="rId19"/>
    <p:sldId id="262" r:id="rId20"/>
    <p:sldId id="285" r:id="rId21"/>
    <p:sldId id="287" r:id="rId22"/>
    <p:sldId id="288" r:id="rId23"/>
    <p:sldId id="289" r:id="rId24"/>
    <p:sldId id="286" r:id="rId25"/>
    <p:sldId id="290" r:id="rId26"/>
    <p:sldId id="29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7C24"/>
    <a:srgbClr val="1A5F9E"/>
    <a:srgbClr val="EAF4FC"/>
    <a:srgbClr val="F8FAF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1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dirty="0"/>
              <a:t>不同</a:t>
            </a:r>
            <a:r>
              <a:rPr lang="zh-CN" dirty="0"/>
              <a:t>算法</a:t>
            </a:r>
            <a:r>
              <a:rPr lang="zh-CN" altLang="en-US" dirty="0"/>
              <a:t>效果</a:t>
            </a:r>
            <a:r>
              <a:rPr lang="zh-CN" dirty="0"/>
              <a:t>对比（</a:t>
            </a:r>
            <a:r>
              <a:rPr lang="en-US" dirty="0"/>
              <a:t>1MB</a:t>
            </a:r>
            <a:r>
              <a:rPr lang="zh-CN" dirty="0"/>
              <a:t>加密性能，</a:t>
            </a:r>
            <a:r>
              <a:rPr lang="en-US" dirty="0"/>
              <a:t>O3</a:t>
            </a:r>
            <a:r>
              <a:rPr lang="zh-CN" dirty="0"/>
              <a:t>优化）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AES-256-GCM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out-of-place</c:v>
                </c:pt>
                <c:pt idx="1">
                  <c:v>in-place</c:v>
                </c:pt>
                <c:pt idx="2">
                  <c:v>out-of-place+ctxreuse</c:v>
                </c:pt>
                <c:pt idx="3">
                  <c:v>in-place+ctxreuse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1.04</c:v>
                </c:pt>
                <c:pt idx="1">
                  <c:v>0.93400000000000005</c:v>
                </c:pt>
                <c:pt idx="2">
                  <c:v>1.0309999999999999</c:v>
                </c:pt>
                <c:pt idx="3">
                  <c:v>0.92500000000000004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FC-4109-9630-A339495D9B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ChaCha20-Poly1305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out-of-place</c:v>
                </c:pt>
                <c:pt idx="1">
                  <c:v>in-place</c:v>
                </c:pt>
                <c:pt idx="2">
                  <c:v>out-of-place+ctxreuse</c:v>
                </c:pt>
                <c:pt idx="3">
                  <c:v>in-place+ctxreuse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2.4769999999999999</c:v>
                </c:pt>
                <c:pt idx="1">
                  <c:v>2.0870000000000002</c:v>
                </c:pt>
                <c:pt idx="2">
                  <c:v>2.1669999999999998</c:v>
                </c:pt>
                <c:pt idx="3">
                  <c:v>2.0920000000000001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FC-4109-9630-A339495D9B7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96578784"/>
        <c:axId val="496580704"/>
      </c:barChart>
      <c:catAx>
        <c:axId val="496578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96580704"/>
        <c:crosses val="autoZero"/>
        <c:auto val="1"/>
        <c:lblAlgn val="ctr"/>
        <c:lblOffset val="100"/>
        <c:noMultiLvlLbl val="0"/>
      </c:catAx>
      <c:valAx>
        <c:axId val="496580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1200" b="0" i="0" u="none" strike="noStrike" kern="1200" baseline="0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avg_ms</a:t>
                </a:r>
                <a:r>
                  <a:rPr lang="zh-CN" altLang="en-US" sz="12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（</a:t>
                </a:r>
                <a:r>
                  <a:rPr lang="en-US" altLang="zh-CN" sz="1200" b="0" i="0" u="none" strike="noStrike" kern="1200" baseline="0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ms</a:t>
                </a:r>
                <a:r>
                  <a:rPr lang="zh-CN" altLang="en-US" sz="12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）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96578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dirty="0"/>
              <a:t>不同数据规模下的</a:t>
            </a:r>
            <a:r>
              <a:rPr lang="zh-CN" altLang="en-US" dirty="0"/>
              <a:t>不同算法的</a:t>
            </a:r>
            <a:r>
              <a:rPr lang="zh-CN" dirty="0"/>
              <a:t>性能对比（</a:t>
            </a:r>
            <a:r>
              <a:rPr lang="en-US" dirty="0"/>
              <a:t>O3</a:t>
            </a:r>
            <a:r>
              <a:rPr lang="zh-CN" dirty="0"/>
              <a:t>优化，</a:t>
            </a:r>
            <a:r>
              <a:rPr lang="en-US" dirty="0"/>
              <a:t>out-of-place</a:t>
            </a:r>
            <a:r>
              <a:rPr lang="zh-CN" dirty="0"/>
              <a:t>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64B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AES-256-GCM</c:v>
                </c:pt>
                <c:pt idx="1">
                  <c:v>ChaCha20-Poly1305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9.1E-4</c:v>
                </c:pt>
                <c:pt idx="1">
                  <c:v>1.1800000000000001E-3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89-41F1-9FC4-5702EB7CD4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256B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AES-256-GCM</c:v>
                </c:pt>
                <c:pt idx="1">
                  <c:v>ChaCha20-Poly1305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1.06E-3</c:v>
                </c:pt>
                <c:pt idx="1">
                  <c:v>1.5E-3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89-41F1-9FC4-5702EB7CD4B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1KB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AES-256-GCM</c:v>
                </c:pt>
                <c:pt idx="1">
                  <c:v>ChaCha20-Poly1305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1.73E-3</c:v>
                </c:pt>
                <c:pt idx="1">
                  <c:v>2.96E-3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89-41F1-9FC4-5702EB7CD4B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4KB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AES-256-GCM</c:v>
                </c:pt>
                <c:pt idx="1">
                  <c:v>ChaCha20-Poly1305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4.4600000000000004E-3</c:v>
                </c:pt>
                <c:pt idx="1">
                  <c:v>8.94E-3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589-41F1-9FC4-5702EB7CD4B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16KB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AES-256-GCM</c:v>
                </c:pt>
                <c:pt idx="1">
                  <c:v>ChaCha20-Poly1305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1.515E-2</c:v>
                </c:pt>
                <c:pt idx="1">
                  <c:v>3.5529999999999999E-2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589-41F1-9FC4-5702EB7CD4B1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64KB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AES-256-GCM</c:v>
                </c:pt>
                <c:pt idx="1">
                  <c:v>ChaCha20-Poly1305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5.8450000000000002E-2</c:v>
                </c:pt>
                <c:pt idx="1">
                  <c:v>0.13011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589-41F1-9FC4-5702EB7CD4B1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256KB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lumMod val="80000"/>
                    <a:lumOff val="20000"/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80000"/>
                    <a:lumOff val="20000"/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80000"/>
                    <a:lumOff val="2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AES-256-GCM</c:v>
                </c:pt>
                <c:pt idx="1">
                  <c:v>ChaCha20-Poly1305</c:v>
                </c:pt>
              </c:strCache>
            </c:strRef>
          </c:cat>
          <c:val>
            <c:numRef>
              <c:f>Sheet1!$H$2:$H$3</c:f>
              <c:numCache>
                <c:formatCode>General</c:formatCode>
                <c:ptCount val="2"/>
                <c:pt idx="0">
                  <c:v>0.25769999999999998</c:v>
                </c:pt>
                <c:pt idx="1">
                  <c:v>0.52619000000000005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589-41F1-9FC4-5702EB7CD4B1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1MB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80000"/>
                    <a:lumOff val="20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lumMod val="80000"/>
                    <a:lumOff val="20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80000"/>
                    <a:lumOff val="2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AES-256-GCM</c:v>
                </c:pt>
                <c:pt idx="1">
                  <c:v>ChaCha20-Poly1305</c:v>
                </c:pt>
              </c:strCache>
            </c:strRef>
          </c:cat>
          <c:val>
            <c:numRef>
              <c:f>Sheet1!$I$2:$I$3</c:f>
              <c:numCache>
                <c:formatCode>General</c:formatCode>
                <c:ptCount val="2"/>
                <c:pt idx="0">
                  <c:v>1.03993</c:v>
                </c:pt>
                <c:pt idx="1">
                  <c:v>2.4765999999999999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C589-41F1-9FC4-5702EB7CD4B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86248112"/>
        <c:axId val="686246192"/>
      </c:barChart>
      <c:catAx>
        <c:axId val="686248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86246192"/>
        <c:crosses val="autoZero"/>
        <c:auto val="1"/>
        <c:lblAlgn val="ctr"/>
        <c:lblOffset val="100"/>
        <c:noMultiLvlLbl val="0"/>
      </c:catAx>
      <c:valAx>
        <c:axId val="68624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1200" b="0" i="0" u="none" strike="noStrike" kern="1200" baseline="0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avg_ms</a:t>
                </a:r>
                <a:r>
                  <a:rPr lang="zh-CN" altLang="en-US" sz="12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（</a:t>
                </a:r>
                <a:r>
                  <a:rPr lang="en-US" altLang="zh-CN" sz="1200" b="0" i="0" u="none" strike="noStrike" kern="1200" baseline="0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ms</a:t>
                </a:r>
                <a:r>
                  <a:rPr lang="zh-CN" altLang="en-US" sz="12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）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86248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28" b="1" i="0" u="none" strike="noStrike" kern="120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2128" b="1" i="0" u="none" strike="noStrike" kern="120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AES-256-GCM</a:t>
            </a:r>
            <a:r>
              <a:rPr lang="zh-CN" altLang="en-US" sz="2128" b="1" i="0" u="none" strike="noStrike" kern="120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算法在</a:t>
            </a:r>
            <a:r>
              <a:rPr lang="zh-CN" dirty="0"/>
              <a:t>不同数据规模下的</a:t>
            </a:r>
            <a:r>
              <a:rPr lang="zh-CN" altLang="en-US" dirty="0"/>
              <a:t>效果</a:t>
            </a:r>
            <a:r>
              <a:rPr lang="zh-CN" dirty="0"/>
              <a:t>（</a:t>
            </a:r>
            <a:r>
              <a:rPr lang="en-US" dirty="0"/>
              <a:t>O3</a:t>
            </a:r>
            <a:r>
              <a:rPr lang="zh-CN" dirty="0"/>
              <a:t>优化）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2128" b="1" i="0" u="none" strike="noStrike" kern="120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64B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out-of-place</c:v>
                </c:pt>
                <c:pt idx="1">
                  <c:v>in-place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9.1E-4</c:v>
                </c:pt>
                <c:pt idx="1">
                  <c:v>9.1E-4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71-460F-B1EE-37CD59C528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256B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out-of-place</c:v>
                </c:pt>
                <c:pt idx="1">
                  <c:v>in-place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1.06E-3</c:v>
                </c:pt>
                <c:pt idx="1">
                  <c:v>1.06E-3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771-460F-B1EE-37CD59C5280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1KB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out-of-place</c:v>
                </c:pt>
                <c:pt idx="1">
                  <c:v>in-place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1.73E-3</c:v>
                </c:pt>
                <c:pt idx="1">
                  <c:v>1.74E-3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771-460F-B1EE-37CD59C5280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4KB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out-of-place</c:v>
                </c:pt>
                <c:pt idx="1">
                  <c:v>in-place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4.4600000000000004E-3</c:v>
                </c:pt>
                <c:pt idx="1">
                  <c:v>5.7000000000000002E-3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771-460F-B1EE-37CD59C5280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16KB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out-of-place</c:v>
                </c:pt>
                <c:pt idx="1">
                  <c:v>in-place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1.515E-2</c:v>
                </c:pt>
                <c:pt idx="1">
                  <c:v>1.5169999999999999E-2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771-460F-B1EE-37CD59C52804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64KB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out-of-place</c:v>
                </c:pt>
                <c:pt idx="1">
                  <c:v>in-place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5.8450000000000002E-2</c:v>
                </c:pt>
                <c:pt idx="1">
                  <c:v>5.8000000000000003E-2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771-460F-B1EE-37CD59C52804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256KB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lumMod val="80000"/>
                    <a:lumOff val="20000"/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80000"/>
                    <a:lumOff val="20000"/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80000"/>
                    <a:lumOff val="2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out-of-place</c:v>
                </c:pt>
                <c:pt idx="1">
                  <c:v>in-place</c:v>
                </c:pt>
              </c:strCache>
            </c:strRef>
          </c:cat>
          <c:val>
            <c:numRef>
              <c:f>Sheet1!$H$2:$H$3</c:f>
              <c:numCache>
                <c:formatCode>General</c:formatCode>
                <c:ptCount val="2"/>
                <c:pt idx="0">
                  <c:v>0.25769999999999998</c:v>
                </c:pt>
                <c:pt idx="1">
                  <c:v>0.23366000000000001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771-460F-B1EE-37CD59C52804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1MB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80000"/>
                    <a:lumOff val="20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lumMod val="80000"/>
                    <a:lumOff val="20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80000"/>
                    <a:lumOff val="2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out-of-place</c:v>
                </c:pt>
                <c:pt idx="1">
                  <c:v>in-place</c:v>
                </c:pt>
              </c:strCache>
            </c:strRef>
          </c:cat>
          <c:val>
            <c:numRef>
              <c:f>Sheet1!$I$2:$I$3</c:f>
              <c:numCache>
                <c:formatCode>General</c:formatCode>
                <c:ptCount val="2"/>
                <c:pt idx="0">
                  <c:v>1.03993</c:v>
                </c:pt>
                <c:pt idx="1">
                  <c:v>0.92879999999999996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771-460F-B1EE-37CD59C5280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686248112"/>
        <c:axId val="686246192"/>
      </c:barChart>
      <c:catAx>
        <c:axId val="686248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86246192"/>
        <c:crosses val="autoZero"/>
        <c:auto val="1"/>
        <c:lblAlgn val="ctr"/>
        <c:lblOffset val="100"/>
        <c:noMultiLvlLbl val="0"/>
      </c:catAx>
      <c:valAx>
        <c:axId val="68624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1100" b="0" i="0" u="none" strike="noStrike" kern="1200" baseline="0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avg_ms</a:t>
                </a:r>
                <a:r>
                  <a:rPr lang="zh-CN" altLang="en-US" sz="11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（</a:t>
                </a:r>
                <a:r>
                  <a:rPr lang="en-US" altLang="zh-CN" sz="1100" b="0" i="0" u="none" strike="noStrike" kern="1200" baseline="0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ms</a:t>
                </a:r>
                <a:r>
                  <a:rPr lang="zh-CN" altLang="en-US" sz="11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）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86248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2128" b="1" i="0" u="none" strike="noStrike" kern="120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编译优化效果（</a:t>
            </a:r>
            <a:r>
              <a:rPr lang="en-US" altLang="zh-CN" sz="2128" b="1" i="0" u="none" strike="noStrike" kern="120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AES-256-GCM</a:t>
            </a:r>
            <a:r>
              <a:rPr lang="zh-CN" altLang="en-US" sz="2128" b="1" i="0" u="none" strike="noStrike" kern="120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算法）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AES-256-GCM+out-place+1MB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O0</c:v>
                </c:pt>
                <c:pt idx="1">
                  <c:v>O2</c:v>
                </c:pt>
                <c:pt idx="2">
                  <c:v>O3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1.0369999999999999</c:v>
                </c:pt>
                <c:pt idx="1">
                  <c:v>1.0309999999999999</c:v>
                </c:pt>
                <c:pt idx="2">
                  <c:v>1.04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C92-4639-A393-7FACAFBA42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AES-256-GCM+in-place+1MB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O0</c:v>
                </c:pt>
                <c:pt idx="1">
                  <c:v>O2</c:v>
                </c:pt>
                <c:pt idx="2">
                  <c:v>O3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0.93300000000000005</c:v>
                </c:pt>
                <c:pt idx="1">
                  <c:v>0.93899999999999995</c:v>
                </c:pt>
                <c:pt idx="2">
                  <c:v>0.93400000000000005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C92-4639-A393-7FACAFBA426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55915328"/>
        <c:axId val="455916768"/>
      </c:lineChart>
      <c:catAx>
        <c:axId val="455915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55916768"/>
        <c:crosses val="autoZero"/>
        <c:auto val="1"/>
        <c:lblAlgn val="ctr"/>
        <c:lblOffset val="100"/>
        <c:noMultiLvlLbl val="0"/>
      </c:catAx>
      <c:valAx>
        <c:axId val="455916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dirty="0" err="1"/>
                  <a:t>avg_ms</a:t>
                </a:r>
                <a:r>
                  <a:rPr lang="zh-CN" altLang="en-US" dirty="0"/>
                  <a:t>（</a:t>
                </a:r>
                <a:r>
                  <a:rPr lang="en-US" altLang="zh-CN" dirty="0" err="1"/>
                  <a:t>ms</a:t>
                </a:r>
                <a:r>
                  <a:rPr lang="zh-CN" altLang="en-US" dirty="0"/>
                  <a:t>）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55915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2128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上下文复用效果（</a:t>
            </a:r>
            <a:r>
              <a:rPr lang="en-US" altLang="zh-CN" sz="2128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AES-256-GCM</a:t>
            </a:r>
            <a:r>
              <a:rPr lang="zh-CN" altLang="en-US" sz="2128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算法，</a:t>
            </a:r>
            <a:r>
              <a:rPr lang="en-US" altLang="zh-CN" sz="2128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O3</a:t>
            </a:r>
            <a:r>
              <a:rPr lang="zh-CN" altLang="en-US" sz="2128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优化，</a:t>
            </a:r>
            <a:r>
              <a:rPr lang="en-US" altLang="zh-CN" sz="2128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1MB</a:t>
            </a:r>
            <a:r>
              <a:rPr lang="zh-CN" altLang="en-US" sz="2128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out-of-place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不复用</c:v>
                </c:pt>
                <c:pt idx="1">
                  <c:v>复用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1.04</c:v>
                </c:pt>
                <c:pt idx="1">
                  <c:v>1.0309999999999999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96A-4C64-8811-CC390B177F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in-place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不复用</c:v>
                </c:pt>
                <c:pt idx="1">
                  <c:v>复用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0.93400000000000005</c:v>
                </c:pt>
                <c:pt idx="1">
                  <c:v>0.92500000000000004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96A-4C64-8811-CC390B177FB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508070816"/>
        <c:axId val="395248752"/>
      </c:lineChart>
      <c:catAx>
        <c:axId val="508070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95248752"/>
        <c:crosses val="autoZero"/>
        <c:auto val="1"/>
        <c:lblAlgn val="ctr"/>
        <c:lblOffset val="100"/>
        <c:noMultiLvlLbl val="0"/>
      </c:catAx>
      <c:valAx>
        <c:axId val="395248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dirty="0" err="1"/>
                  <a:t>avg_ms</a:t>
                </a:r>
                <a:r>
                  <a:rPr lang="zh-CN" altLang="en-US" dirty="0"/>
                  <a:t>（</a:t>
                </a:r>
                <a:r>
                  <a:rPr lang="en-US" altLang="zh-CN" dirty="0" err="1"/>
                  <a:t>ms</a:t>
                </a:r>
                <a:r>
                  <a:rPr lang="zh-CN" altLang="en-US" dirty="0"/>
                  <a:t>）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08070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1798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29047-44BB-A7C1-F5BA-B84621758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B63B0A-F7D0-3D98-9706-3179A7E8F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00D747-3396-F077-0152-5EC3138F9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4517A-3A1C-1BFE-D6A8-89185B8846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611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BF5F3-38B0-83FC-FCCA-3FB46431A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29DD6C-5EE6-24B4-26F5-C2ABD456D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F2030-B34D-2055-4892-C35B92B53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73FBB-049D-2391-EA7A-EB1F165CB6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261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57FBF-CAD9-55F3-8296-27AA56220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311815-4929-E68B-AE1C-28DAE697EA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DD1BC-14F9-8136-F612-77E47E85C0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A3FD3-970F-A20F-6197-C91B7B8CC1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252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EDF9-4FE7-76AF-A709-70BA82A57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3A4A58-FD27-2AA7-A929-463E2136D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7490D-8167-B200-B26B-87C0EB346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DF79E-0777-CD3B-9BF2-06DD853F03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601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E0022-1A1F-C172-836E-E56FD0ED9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12D9D4-23E3-1F57-B87E-D4CFEF793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17508-055C-79EB-E94E-F719CE3EC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6B947-AD38-7D8B-06C0-C282A0BDC6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796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FE620-5376-B0CA-ACDB-ABBFA6D2D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498A88-D045-62BC-FE31-6C00AF22E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E3855-150F-A480-02A4-81EF42360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DEA9A-A039-4B40-EE58-FE3E4962B7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2126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05F24-EABA-B71C-53F4-5C82B1738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3FAEAD-4995-C47E-AAAD-56A4AFD57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4B19D7-2D16-8FD1-34DF-692F5A919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8E077-1272-A181-F963-14536CE086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6198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1577A-AFC3-8404-67AF-505354BF5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A1D977-BD47-0530-7052-358662871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CAC919-AE14-6CB7-0286-C3CF06A6E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1ADB9F-CF11-E9A2-DDB0-C66AC13AD2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18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167DC-1166-7D01-B461-5432B397F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C2E533-D2CD-CB29-0737-F91D359C5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FC946E-EDE0-EE2E-2A32-FF43BD31A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C359F-B3C2-6219-AB97-5956323E5A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1127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66744-5E12-90E6-B994-D0A4115E2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4E23D8-4BD6-8AD6-3B45-69BF5040E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D99BFA-C11F-737F-F775-4705AB39A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3A8DC-F605-FFAE-C6A3-E826FBAEF9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443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70FDD-73A6-1E14-9F67-2B198178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09D3-C175-CFE8-8B4A-9798883BE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2BCD4F-F97F-8382-FDBD-B67F59F92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096B2-B709-3BA1-B9C0-32BBB0ABEF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9157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07CBF-9C5D-EB8B-6DDF-7F3C6087F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F2972E-B100-4252-16DC-3C0D7DFD4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3B6E24-DF79-D4DA-D96D-B6739637B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D63C9-C53D-1DBD-257C-93331B258C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214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54A02-277A-F320-4F67-D8DAFDAB3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4D011C-4945-7B83-11F9-1FB7CAD1A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03634E-2534-6B81-ED04-BDB5D822E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E7697-213C-B36A-693E-F8439585BD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5601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B845F-D622-F815-A0F9-EE5EDA6E3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6BBACD-7598-1713-6424-5C999486E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7B8B83-554C-F8C3-7F37-18493CB21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5E26B-7ECD-4AB2-DBF3-4B360096C6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049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5E3C3-B54D-F20D-F62F-118D37E25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2305B1-20F6-1F18-95FF-E6EFDA420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5A971D-BB64-03CF-69F6-0560FC7D8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9BC80-134A-F20D-1B39-C542344FE3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484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C5905-36A7-7BBB-8A09-6D364112E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388F97-51AF-FEAD-DBB3-C7CBF4F61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046D83-BAF0-3998-25BF-ECAC29486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CCF26-C06A-5323-D4E6-A8EBF6DCB7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2474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32BBE-2BF8-5A9F-7097-9D6769E24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542702-38AA-CCB9-F6F5-3727FEE89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460969-C946-55A1-FB00-F07F85D23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79481-414D-AD47-9AFF-E42076D8FD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8663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BF6BF-01A0-64C7-B176-0141095BC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EA5909-3340-6856-BF3F-21C26FC29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50860C-03DB-7D91-FB08-B6A633E30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5EF3E-0B1C-942A-91F7-5340537C4E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7476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C0D05-F48C-FD4B-9F47-D053A4507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9D390D-219A-0FCB-F359-14BF71E782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767C7A-5EF4-40BE-6035-3939DC0256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4E4A15-912F-9BB4-5C25-7B9E93E121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1613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C0199-B6D7-607B-86A1-C6946C7F5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6DEAF9-E26F-D584-29F6-AD1457303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0D697-8835-2083-E1D2-336AB822A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67135-3EE4-DFE8-4155-5F5F642686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0787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1B292-D382-958E-5AE3-65B4632D3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6FD21-9B2D-58BA-0730-E70692AA3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DE77AE-EABA-11B9-0C1B-446B67C44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25AC8-A10C-5977-3E12-15AAFAF963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9070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6F951-1967-0748-829A-05E116D05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C0E731-F514-719C-5AFC-CDEF51D05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495C9C-0BC3-5AB8-4801-C31C1CB28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17EEA-566F-F01E-8066-C3CF7D7922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29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66928" y="-512064"/>
            <a:ext cx="1572768" cy="1572768"/>
          </a:xfrm>
          <a:prstGeom prst="ellipse">
            <a:avLst/>
          </a:prstGeom>
          <a:solidFill>
            <a:srgbClr val="1A5F9E">
              <a:alpha val="8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8288"/>
            <a:ext cx="566928" cy="566928"/>
          </a:xfrm>
          <a:prstGeom prst="ellipse">
            <a:avLst/>
          </a:prstGeom>
          <a:solidFill>
            <a:srgbClr val="1A5F9E">
              <a:alpha val="12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52760" y="5989320"/>
            <a:ext cx="1645920" cy="1645920"/>
          </a:xfrm>
          <a:prstGeom prst="ellipse">
            <a:avLst/>
          </a:prstGeom>
          <a:solidFill>
            <a:srgbClr val="1A5F9E">
              <a:alpha val="8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6272784"/>
            <a:ext cx="685800" cy="685800"/>
          </a:xfrm>
          <a:prstGeom prst="ellipse">
            <a:avLst/>
          </a:prstGeom>
          <a:solidFill>
            <a:srgbClr val="1A5F9E">
              <a:alpha val="12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2578608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000" b="1" dirty="0" err="1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CRYPT算子的性能</a:t>
            </a:r>
            <a:r>
              <a:rPr lang="zh-CN" altLang="en-US" sz="40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分析与</a:t>
            </a:r>
            <a:r>
              <a:rPr lang="en-US" sz="4000" b="1" dirty="0" err="1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144975" y="35021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r>
              <a:rPr lang="zh-CN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基于香橙派鲲鹏</a:t>
            </a:r>
            <a:r>
              <a:rPr lang="en-US" altLang="zh-CN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</a:t>
            </a:r>
            <a:r>
              <a:rPr lang="zh-CN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开发板</a:t>
            </a:r>
            <a:r>
              <a:rPr lang="en-US" altLang="zh-CN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r>
              <a:rPr lang="en-US" altLang="zh-CN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openEuler</a:t>
            </a:r>
            <a:r>
              <a:rPr lang="zh-CN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</a:t>
            </a:r>
            <a:endParaRPr lang="en-US" altLang="zh-CN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06240" y="4315968"/>
            <a:ext cx="3794760" cy="0"/>
          </a:xfrm>
          <a:prstGeom prst="line">
            <a:avLst/>
          </a:prstGeom>
          <a:noFill/>
          <a:ln w="15240">
            <a:solidFill>
              <a:srgbClr val="1A5F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6492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26</a:t>
            </a:r>
            <a:endParaRPr lang="en-US" sz="75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286B47F8-87B2-A690-2ECC-D41637FBB0BA}"/>
              </a:ext>
            </a:extLst>
          </p:cNvPr>
          <p:cNvSpPr/>
          <p:nvPr/>
        </p:nvSpPr>
        <p:spPr>
          <a:xfrm>
            <a:off x="5577840" y="4444040"/>
            <a:ext cx="1202406" cy="438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2400" dirty="0"/>
              <a:t>第</a:t>
            </a:r>
            <a:r>
              <a:rPr lang="en-US" altLang="zh-CN" sz="2400" dirty="0"/>
              <a:t>2</a:t>
            </a:r>
            <a:r>
              <a:rPr lang="zh-CN" altLang="en-US" sz="2400" dirty="0"/>
              <a:t>组</a:t>
            </a:r>
            <a:endParaRPr lang="en-US" altLang="zh-CN" sz="2400" dirty="0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2E704EF9-8EBA-CE20-B2B4-B56599901D65}"/>
              </a:ext>
            </a:extLst>
          </p:cNvPr>
          <p:cNvSpPr/>
          <p:nvPr/>
        </p:nvSpPr>
        <p:spPr>
          <a:xfrm>
            <a:off x="7612380" y="4773196"/>
            <a:ext cx="3657600" cy="154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dirty="0"/>
              <a:t>演讲者：陈峥天</a:t>
            </a:r>
            <a:endParaRPr lang="en-US" altLang="zh-CN" dirty="0"/>
          </a:p>
          <a:p>
            <a:pPr algn="ctr"/>
            <a:r>
              <a:rPr lang="zh-CN" altLang="en-US" dirty="0"/>
              <a:t>代码编写：王乐颖</a:t>
            </a:r>
            <a:endParaRPr lang="en-US" altLang="zh-CN" dirty="0"/>
          </a:p>
          <a:p>
            <a:pPr algn="ctr"/>
            <a:r>
              <a:rPr lang="en-US" altLang="zh-CN" dirty="0"/>
              <a:t>PPT</a:t>
            </a:r>
            <a:r>
              <a:rPr lang="zh-CN" altLang="en-US" dirty="0"/>
              <a:t>制作：刘威龙</a:t>
            </a:r>
            <a:endParaRPr lang="en-US" altLang="zh-CN" dirty="0"/>
          </a:p>
          <a:p>
            <a:pPr algn="ctr"/>
            <a:r>
              <a:rPr lang="zh-CN" altLang="en-US" dirty="0"/>
              <a:t>文档撰写：</a:t>
            </a:r>
            <a:r>
              <a:rPr lang="en-US" altLang="zh-CN" dirty="0"/>
              <a:t>Devina Claresta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CB26DF-2E1F-5CD1-9645-235564329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1CD8214-6A61-238A-64AB-4BBBA39B8B86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AF2B931-1CC1-4E50-4DAC-FBB3F311CA9A}"/>
              </a:ext>
            </a:extLst>
          </p:cNvPr>
          <p:cNvSpPr/>
          <p:nvPr/>
        </p:nvSpPr>
        <p:spPr>
          <a:xfrm>
            <a:off x="-566928" y="-512064"/>
            <a:ext cx="1572768" cy="1572768"/>
          </a:xfrm>
          <a:prstGeom prst="ellipse">
            <a:avLst/>
          </a:prstGeom>
          <a:solidFill>
            <a:srgbClr val="1A5F9E">
              <a:alpha val="8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AFB0AD0-F90E-83FF-FB7E-B7E206259729}"/>
              </a:ext>
            </a:extLst>
          </p:cNvPr>
          <p:cNvSpPr/>
          <p:nvPr/>
        </p:nvSpPr>
        <p:spPr>
          <a:xfrm>
            <a:off x="164592" y="18288"/>
            <a:ext cx="566928" cy="566928"/>
          </a:xfrm>
          <a:prstGeom prst="ellipse">
            <a:avLst/>
          </a:prstGeom>
          <a:solidFill>
            <a:srgbClr val="1A5F9E">
              <a:alpha val="12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54819FC-2CAE-9E0F-EBE3-02CDC003A211}"/>
              </a:ext>
            </a:extLst>
          </p:cNvPr>
          <p:cNvSpPr/>
          <p:nvPr/>
        </p:nvSpPr>
        <p:spPr>
          <a:xfrm>
            <a:off x="10652760" y="5989320"/>
            <a:ext cx="1645920" cy="1645920"/>
          </a:xfrm>
          <a:prstGeom prst="ellipse">
            <a:avLst/>
          </a:prstGeom>
          <a:solidFill>
            <a:srgbClr val="1A5F9E">
              <a:alpha val="8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F10964B-E260-D081-710F-8AE0FE335C8E}"/>
              </a:ext>
            </a:extLst>
          </p:cNvPr>
          <p:cNvSpPr/>
          <p:nvPr/>
        </p:nvSpPr>
        <p:spPr>
          <a:xfrm>
            <a:off x="10927080" y="6272784"/>
            <a:ext cx="685800" cy="685800"/>
          </a:xfrm>
          <a:prstGeom prst="ellipse">
            <a:avLst/>
          </a:prstGeom>
          <a:solidFill>
            <a:srgbClr val="1A5F9E">
              <a:alpha val="12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A0BF496-40D3-247B-CE33-5C590D62EEC9}"/>
              </a:ext>
            </a:extLst>
          </p:cNvPr>
          <p:cNvSpPr/>
          <p:nvPr/>
        </p:nvSpPr>
        <p:spPr>
          <a:xfrm>
            <a:off x="731520" y="568712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36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目录</a:t>
            </a:r>
            <a:endParaRPr lang="en-US" sz="3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423C278-7689-3970-96E3-359C90A3705F}"/>
              </a:ext>
            </a:extLst>
          </p:cNvPr>
          <p:cNvSpPr/>
          <p:nvPr/>
        </p:nvSpPr>
        <p:spPr>
          <a:xfrm>
            <a:off x="5577840" y="6492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26</a:t>
            </a:r>
            <a:endParaRPr lang="en-US" sz="7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DE1A50F-99A5-8EE8-B03F-7CFF46CE87D7}"/>
              </a:ext>
            </a:extLst>
          </p:cNvPr>
          <p:cNvSpPr/>
          <p:nvPr/>
        </p:nvSpPr>
        <p:spPr>
          <a:xfrm>
            <a:off x="1005840" y="1579124"/>
            <a:ext cx="8818384" cy="680726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 anchor="ctr"/>
          <a:lstStyle/>
          <a:p>
            <a:r>
              <a:rPr lang="en-US" altLang="zh-CN" sz="24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1. </a:t>
            </a:r>
            <a:r>
              <a:rPr lang="en-US" altLang="zh-CN" sz="24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CRYPT</a:t>
            </a:r>
            <a:r>
              <a:rPr lang="zh-CN" altLang="en-US" sz="24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算子定义</a:t>
            </a:r>
            <a:endParaRPr lang="en-US" altLang="zh-CN" sz="24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428DF13-7E16-F2D5-3B96-0C5E8D3A1399}"/>
              </a:ext>
            </a:extLst>
          </p:cNvPr>
          <p:cNvSpPr/>
          <p:nvPr/>
        </p:nvSpPr>
        <p:spPr>
          <a:xfrm>
            <a:off x="1005840" y="2516509"/>
            <a:ext cx="8818384" cy="680726"/>
          </a:xfrm>
          <a:prstGeom prst="roundRect">
            <a:avLst>
              <a:gd name="adj" fmla="val 14583"/>
            </a:avLst>
          </a:prstGeom>
          <a:solidFill>
            <a:srgbClr val="EAF4FC"/>
          </a:solidFill>
          <a:ln w="10160">
            <a:solidFill>
              <a:srgbClr val="E2E8F0"/>
            </a:solidFill>
            <a:prstDash val="solid"/>
          </a:ln>
        </p:spPr>
        <p:txBody>
          <a:bodyPr anchor="ctr"/>
          <a:lstStyle/>
          <a:p>
            <a:r>
              <a:rPr lang="en-US" altLang="zh-CN" sz="24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2. </a:t>
            </a:r>
            <a:r>
              <a:rPr lang="zh-CN" altLang="en-US" sz="24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函数设计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703038E-DA9A-0DA8-91B8-F6639BB1CF21}"/>
              </a:ext>
            </a:extLst>
          </p:cNvPr>
          <p:cNvSpPr/>
          <p:nvPr/>
        </p:nvSpPr>
        <p:spPr>
          <a:xfrm>
            <a:off x="1005840" y="3453895"/>
            <a:ext cx="8818384" cy="680726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 anchor="ctr"/>
          <a:lstStyle/>
          <a:p>
            <a:r>
              <a:rPr lang="en-US" altLang="zh-CN" sz="24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3. </a:t>
            </a:r>
            <a:r>
              <a:rPr lang="zh-CN" altLang="en-US" sz="24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实验设计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3C9B44A-ACD9-6F83-1945-29D90F67D319}"/>
              </a:ext>
            </a:extLst>
          </p:cNvPr>
          <p:cNvSpPr/>
          <p:nvPr/>
        </p:nvSpPr>
        <p:spPr>
          <a:xfrm>
            <a:off x="1005840" y="4391281"/>
            <a:ext cx="8818384" cy="680726"/>
          </a:xfrm>
          <a:prstGeom prst="roundRect">
            <a:avLst>
              <a:gd name="adj" fmla="val 14583"/>
            </a:avLst>
          </a:prstGeom>
          <a:solidFill>
            <a:srgbClr val="EAF4FC"/>
          </a:solidFill>
          <a:ln w="10160">
            <a:solidFill>
              <a:srgbClr val="E2E8F0"/>
            </a:solidFill>
            <a:prstDash val="solid"/>
          </a:ln>
        </p:spPr>
        <p:txBody>
          <a:bodyPr anchor="ctr"/>
          <a:lstStyle/>
          <a:p>
            <a:r>
              <a:rPr lang="en-US" altLang="zh-CN" sz="24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4. </a:t>
            </a:r>
            <a:r>
              <a:rPr lang="zh-CN" altLang="en-US" sz="24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实验结果与分析</a:t>
            </a:r>
          </a:p>
        </p:txBody>
      </p:sp>
    </p:spTree>
    <p:extLst>
      <p:ext uri="{BB962C8B-B14F-4D97-AF65-F5344CB8AC3E}">
        <p14:creationId xmlns:p14="http://schemas.microsoft.com/office/powerpoint/2010/main" val="1347929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D57620-53AA-0FC7-3F26-8AE1468A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2FAC7F1-D1CA-2B43-ADFD-ACFB464634D1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FF64D45-4FC4-B38B-4FFD-8B1AE9D0D0D6}"/>
              </a:ext>
            </a:extLst>
          </p:cNvPr>
          <p:cNvSpPr/>
          <p:nvPr/>
        </p:nvSpPr>
        <p:spPr>
          <a:xfrm>
            <a:off x="-566928" y="-512064"/>
            <a:ext cx="1572768" cy="1572768"/>
          </a:xfrm>
          <a:prstGeom prst="ellipse">
            <a:avLst/>
          </a:prstGeom>
          <a:solidFill>
            <a:srgbClr val="1A5F9E">
              <a:alpha val="8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5633812-60C6-D508-8F95-D4BD457788E7}"/>
              </a:ext>
            </a:extLst>
          </p:cNvPr>
          <p:cNvSpPr/>
          <p:nvPr/>
        </p:nvSpPr>
        <p:spPr>
          <a:xfrm>
            <a:off x="164592" y="18288"/>
            <a:ext cx="566928" cy="566928"/>
          </a:xfrm>
          <a:prstGeom prst="ellipse">
            <a:avLst/>
          </a:prstGeom>
          <a:solidFill>
            <a:srgbClr val="1A5F9E">
              <a:alpha val="12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66D3829-BCD3-25A8-EB8F-C7A46B56FC5C}"/>
              </a:ext>
            </a:extLst>
          </p:cNvPr>
          <p:cNvSpPr/>
          <p:nvPr/>
        </p:nvSpPr>
        <p:spPr>
          <a:xfrm>
            <a:off x="10652760" y="5989320"/>
            <a:ext cx="1645920" cy="1645920"/>
          </a:xfrm>
          <a:prstGeom prst="ellipse">
            <a:avLst/>
          </a:prstGeom>
          <a:solidFill>
            <a:srgbClr val="1A5F9E">
              <a:alpha val="8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87847E6-0644-447E-6AD9-64921FF4533F}"/>
              </a:ext>
            </a:extLst>
          </p:cNvPr>
          <p:cNvSpPr/>
          <p:nvPr/>
        </p:nvSpPr>
        <p:spPr>
          <a:xfrm>
            <a:off x="10927080" y="6272784"/>
            <a:ext cx="685800" cy="685800"/>
          </a:xfrm>
          <a:prstGeom prst="ellipse">
            <a:avLst/>
          </a:prstGeom>
          <a:solidFill>
            <a:srgbClr val="1A5F9E">
              <a:alpha val="12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D070475-2458-F3A7-93A2-D90EF25A336E}"/>
              </a:ext>
            </a:extLst>
          </p:cNvPr>
          <p:cNvSpPr/>
          <p:nvPr/>
        </p:nvSpPr>
        <p:spPr>
          <a:xfrm>
            <a:off x="1432407" y="320954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40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1. CRYPT</a:t>
            </a:r>
            <a:r>
              <a:rPr lang="zh-CN" altLang="en-US" sz="40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算子定义</a:t>
            </a:r>
            <a:endParaRPr lang="en-US" altLang="zh-CN" sz="4000" b="1" dirty="0">
              <a:solidFill>
                <a:srgbClr val="1A5F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6EF9BFA-1FDE-98DB-E3DB-23D9E9081D29}"/>
              </a:ext>
            </a:extLst>
          </p:cNvPr>
          <p:cNvSpPr/>
          <p:nvPr/>
        </p:nvSpPr>
        <p:spPr>
          <a:xfrm>
            <a:off x="5577840" y="6492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26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135539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0" y="6492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80906" y="1217359"/>
            <a:ext cx="5242559" cy="2884391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0906" y="1217360"/>
            <a:ext cx="5242559" cy="50744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8067" y="141852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5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39275" y="1427672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什么是</a:t>
            </a:r>
            <a:r>
              <a:rPr lang="en-US" altLang="zh-CN" sz="20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CRYPT</a:t>
            </a:r>
            <a:r>
              <a:rPr lang="zh-CN" altLang="en-US" sz="20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算子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31372" y="1217360"/>
            <a:ext cx="5242561" cy="288439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1372" y="1217361"/>
            <a:ext cx="5242559" cy="50744"/>
          </a:xfrm>
          <a:prstGeom prst="rect">
            <a:avLst/>
          </a:prstGeom>
          <a:solidFill>
            <a:srgbClr val="E07C24"/>
          </a:solidFill>
          <a:ln w="12700">
            <a:solidFill>
              <a:srgbClr val="E07C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8533" y="1418529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07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89741" y="1427673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E07C24"/>
                </a:solidFill>
                <a:latin typeface="Microsoft YaHei" pitchFamily="34" charset="0"/>
                <a:ea typeface="Microsoft YaHei" pitchFamily="34" charset="-122"/>
              </a:rPr>
              <a:t>典型应用场景</a:t>
            </a:r>
            <a:endParaRPr lang="en-US" sz="20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14CEF49-EADA-9EEA-D051-859BAC1BAA9E}"/>
              </a:ext>
            </a:extLst>
          </p:cNvPr>
          <p:cNvSpPr txBox="1"/>
          <p:nvPr/>
        </p:nvSpPr>
        <p:spPr>
          <a:xfrm>
            <a:off x="-6099" y="129016"/>
            <a:ext cx="6099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1. CRYPT</a:t>
            </a:r>
            <a:r>
              <a:rPr lang="zh-CN" altLang="en-US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算子定义</a:t>
            </a:r>
            <a:endParaRPr lang="en-US" altLang="zh-CN" sz="3200" b="1" dirty="0">
              <a:solidFill>
                <a:srgbClr val="1A5F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E91EACE2-911D-A95B-244E-00B3103A3B6B}"/>
              </a:ext>
            </a:extLst>
          </p:cNvPr>
          <p:cNvSpPr/>
          <p:nvPr/>
        </p:nvSpPr>
        <p:spPr>
          <a:xfrm>
            <a:off x="580906" y="4394795"/>
            <a:ext cx="10893025" cy="199785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DEC193CF-9152-249B-DA84-365C6E74D1B6}"/>
              </a:ext>
            </a:extLst>
          </p:cNvPr>
          <p:cNvSpPr/>
          <p:nvPr/>
        </p:nvSpPr>
        <p:spPr>
          <a:xfrm>
            <a:off x="580906" y="4394795"/>
            <a:ext cx="10893025" cy="45719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D010D233-068D-641F-139E-013222EFB57D}"/>
              </a:ext>
            </a:extLst>
          </p:cNvPr>
          <p:cNvSpPr/>
          <p:nvPr/>
        </p:nvSpPr>
        <p:spPr>
          <a:xfrm>
            <a:off x="718067" y="4595963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5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839B73EC-BEB1-BE03-7698-ABDED944A92C}"/>
              </a:ext>
            </a:extLst>
          </p:cNvPr>
          <p:cNvSpPr/>
          <p:nvPr/>
        </p:nvSpPr>
        <p:spPr>
          <a:xfrm>
            <a:off x="1239275" y="4605107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算法选择</a:t>
            </a:r>
            <a:endParaRPr lang="en-US" sz="2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0D3A348-F443-1459-C81B-E53453C0FDF6}"/>
              </a:ext>
            </a:extLst>
          </p:cNvPr>
          <p:cNvSpPr txBox="1"/>
          <p:nvPr/>
        </p:nvSpPr>
        <p:spPr>
          <a:xfrm>
            <a:off x="6231372" y="1727792"/>
            <a:ext cx="524256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在车载系统中有两个典型应用场景，一个是在安全启动的时候，触发方式为非周期（上电一次），时间为几毫秒到几十毫秒，数据量为几</a:t>
            </a:r>
            <a:r>
              <a:rPr lang="en-US" altLang="zh-CN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KB</a:t>
            </a: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。另一个是在固件</a:t>
            </a:r>
            <a:r>
              <a:rPr lang="en-US" altLang="zh-CN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OTA</a:t>
            </a: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更新（空中下载，即通过无线网络给汽车远程升级系统）的时候，触发方式为非周期（偶发），时间为分钟级，数据量为几</a:t>
            </a:r>
            <a:r>
              <a:rPr lang="en-US" altLang="zh-CN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MB</a:t>
            </a: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到几百</a:t>
            </a:r>
            <a:r>
              <a:rPr lang="en-US" altLang="zh-CN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MB</a:t>
            </a: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。</a:t>
            </a:r>
            <a:endParaRPr lang="en-US" altLang="zh-CN" sz="2000" dirty="0">
              <a:solidFill>
                <a:srgbClr val="4A5568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CBC5D4C-850C-630D-BA84-381577F382E8}"/>
              </a:ext>
            </a:extLst>
          </p:cNvPr>
          <p:cNvSpPr txBox="1"/>
          <p:nvPr/>
        </p:nvSpPr>
        <p:spPr>
          <a:xfrm>
            <a:off x="580909" y="1863275"/>
            <a:ext cx="448055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CRYPT</a:t>
            </a: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是加解密</a:t>
            </a:r>
            <a:r>
              <a:rPr lang="en-US" altLang="zh-CN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/</a:t>
            </a: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完整性校验算子。</a:t>
            </a:r>
            <a:endParaRPr lang="en-US" altLang="zh-CN" sz="2000" dirty="0">
              <a:solidFill>
                <a:srgbClr val="4A5568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加密的核心问题是数据会不会被偷看。</a:t>
            </a:r>
            <a:endParaRPr lang="en-US" altLang="zh-CN" sz="2000" dirty="0">
              <a:solidFill>
                <a:srgbClr val="4A5568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解密的核心问题是怎么还原原始数据。</a:t>
            </a:r>
            <a:endParaRPr lang="en-US" altLang="zh-CN" sz="2000" dirty="0">
              <a:solidFill>
                <a:srgbClr val="4A5568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完整性校验的核心问题是数据有没有被篡改。</a:t>
            </a:r>
            <a:endParaRPr lang="en-US" altLang="zh-CN" sz="20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4C6E920-E5FA-56A0-F196-3C2903FB6409}"/>
              </a:ext>
            </a:extLst>
          </p:cNvPr>
          <p:cNvSpPr txBox="1"/>
          <p:nvPr/>
        </p:nvSpPr>
        <p:spPr>
          <a:xfrm>
            <a:off x="580906" y="4997180"/>
            <a:ext cx="108930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本实验使用两种</a:t>
            </a:r>
            <a:r>
              <a:rPr lang="en-US" altLang="zh-CN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AEAD</a:t>
            </a: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（</a:t>
            </a:r>
            <a:r>
              <a:rPr lang="en-US" altLang="zh-CN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Authenticated Encryption with Associated Data</a:t>
            </a: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，认证加密）算法，加密和完整性校验一次调用同时完成。</a:t>
            </a:r>
            <a:endParaRPr lang="en-US" altLang="zh-CN" sz="2000" dirty="0">
              <a:solidFill>
                <a:srgbClr val="4A5568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AES-256-GCM</a:t>
            </a: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算法，是业界标准，支持硬件加速，有对于</a:t>
            </a:r>
            <a:r>
              <a:rPr lang="en-US" altLang="zh-CN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ARMv8</a:t>
            </a: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的专用指令。</a:t>
            </a:r>
            <a:endParaRPr lang="en-US" altLang="zh-CN" sz="2000" dirty="0">
              <a:solidFill>
                <a:srgbClr val="4A5568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ChaCha20-Poly1305</a:t>
            </a: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算法，纯软件友好，没有硬件加速。</a:t>
            </a:r>
            <a:endParaRPr lang="en-US" altLang="zh-CN" sz="2000" dirty="0">
              <a:solidFill>
                <a:srgbClr val="4A5568"/>
              </a:solidFill>
              <a:latin typeface="Microsoft YaHei" pitchFamily="34" charset="0"/>
              <a:ea typeface="Microsoft YaHei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018D97-6A1D-9FEE-6F51-7141C8439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61F7838-1AB7-5FB6-68D7-C50756971050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B791F32-3585-6DB1-0B09-53DA36E74882}"/>
              </a:ext>
            </a:extLst>
          </p:cNvPr>
          <p:cNvSpPr/>
          <p:nvPr/>
        </p:nvSpPr>
        <p:spPr>
          <a:xfrm>
            <a:off x="5577840" y="6492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26</a:t>
            </a:r>
            <a:endParaRPr lang="en-US" sz="7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D05928C-D02A-92D9-5113-61BF68737112}"/>
              </a:ext>
            </a:extLst>
          </p:cNvPr>
          <p:cNvSpPr/>
          <p:nvPr/>
        </p:nvSpPr>
        <p:spPr>
          <a:xfrm>
            <a:off x="580906" y="1217359"/>
            <a:ext cx="5242559" cy="5173281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en-US" altLang="zh-CN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AES-256-GCM</a:t>
            </a:r>
            <a:r>
              <a:rPr lang="zh-CN" altLang="en-US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算法原理简要介绍：</a:t>
            </a:r>
            <a:endParaRPr lang="en-US" altLang="zh-CN" sz="2400" dirty="0">
              <a:solidFill>
                <a:srgbClr val="1A5F9E"/>
              </a:solidFill>
              <a:latin typeface="Microsoft YaHei" pitchFamily="34" charset="0"/>
              <a:ea typeface="Microsoft YaHei" pitchFamily="34" charset="-122"/>
            </a:endParaRPr>
          </a:p>
          <a:p>
            <a:endParaRPr lang="en-US" altLang="zh-CN" dirty="0">
              <a:solidFill>
                <a:srgbClr val="4A5568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zh-CN" altLang="en-US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       </a:t>
            </a: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把明文切成</a:t>
            </a:r>
            <a:r>
              <a:rPr lang="en-US" altLang="zh-CN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16</a:t>
            </a: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字节的小块。每块数据经过</a:t>
            </a:r>
            <a:r>
              <a:rPr lang="en-US" altLang="zh-CN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14</a:t>
            </a: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轮变换，每轮做四步操作：</a:t>
            </a:r>
            <a:endParaRPr lang="en-US" altLang="zh-CN" sz="2000" dirty="0">
              <a:solidFill>
                <a:srgbClr val="4A5568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en-US" altLang="zh-CN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       </a:t>
            </a: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字节替换（用</a:t>
            </a:r>
            <a:r>
              <a:rPr lang="en-US" altLang="zh-CN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S</a:t>
            </a: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盒查表替换每个字节）、</a:t>
            </a:r>
            <a:endParaRPr lang="en-US" altLang="zh-CN" sz="2000" dirty="0">
              <a:solidFill>
                <a:srgbClr val="4A5568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       行移位（每行循环左移不同位数）、</a:t>
            </a:r>
            <a:endParaRPr lang="en-US" altLang="zh-CN" sz="2000" dirty="0">
              <a:solidFill>
                <a:srgbClr val="4A5568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       列混合（对每列做矩阵乘法）、</a:t>
            </a:r>
            <a:endParaRPr lang="en-US" altLang="zh-CN" sz="2000" dirty="0">
              <a:solidFill>
                <a:srgbClr val="4A5568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       轮密钥加（与当前轮密钥异或）。</a:t>
            </a:r>
            <a:endParaRPr lang="en-US" altLang="zh-CN" sz="2000" dirty="0">
              <a:solidFill>
                <a:srgbClr val="4A5568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每轮使用从主密钥派生出来的不同子密钥。</a:t>
            </a:r>
            <a:endParaRPr lang="en-US" altLang="zh-CN" sz="2000" dirty="0">
              <a:solidFill>
                <a:srgbClr val="4A5568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en-US" altLang="zh-CN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       GCM</a:t>
            </a: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模式在加密的同时用伽罗瓦域乘法计算出一个</a:t>
            </a:r>
            <a:r>
              <a:rPr lang="en-US" altLang="zh-CN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16</a:t>
            </a: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字节的认证标签，解密时验证这个标签就可以判断数据是否被篡改过。</a:t>
            </a:r>
            <a:endParaRPr lang="en-US" altLang="zh-CN" sz="2000" dirty="0">
              <a:solidFill>
                <a:srgbClr val="4A5568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en-US" altLang="zh-CN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       ARMv8</a:t>
            </a: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处理器有专门的硬件指令来完成这一整套操作，一条指令就能算完一整轮加密，因此速度极快。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9BD233F-E309-CE26-59D7-46A35EE3DFC2}"/>
              </a:ext>
            </a:extLst>
          </p:cNvPr>
          <p:cNvSpPr/>
          <p:nvPr/>
        </p:nvSpPr>
        <p:spPr>
          <a:xfrm>
            <a:off x="580906" y="1217360"/>
            <a:ext cx="5242559" cy="50744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5DEF5C7-4F8D-51B7-1F88-01D6BEAE9B44}"/>
              </a:ext>
            </a:extLst>
          </p:cNvPr>
          <p:cNvSpPr/>
          <p:nvPr/>
        </p:nvSpPr>
        <p:spPr>
          <a:xfrm>
            <a:off x="6231372" y="1217360"/>
            <a:ext cx="5242561" cy="517328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en-US" altLang="zh-CN" sz="2400" dirty="0">
                <a:solidFill>
                  <a:srgbClr val="E07C24"/>
                </a:solidFill>
                <a:latin typeface="Microsoft YaHei" pitchFamily="34" charset="0"/>
                <a:ea typeface="Microsoft YaHei" pitchFamily="34" charset="-122"/>
              </a:rPr>
              <a:t>ChaCha20-Poly1305</a:t>
            </a:r>
            <a:r>
              <a:rPr lang="zh-CN" altLang="en-US" sz="2400" dirty="0">
                <a:solidFill>
                  <a:srgbClr val="E07C24"/>
                </a:solidFill>
                <a:latin typeface="Microsoft YaHei" pitchFamily="34" charset="0"/>
                <a:ea typeface="Microsoft YaHei" pitchFamily="34" charset="-122"/>
              </a:rPr>
              <a:t>算法原理简要介绍：</a:t>
            </a:r>
            <a:endParaRPr lang="en-US" altLang="zh-CN" sz="2400" dirty="0">
              <a:solidFill>
                <a:srgbClr val="E07C24"/>
              </a:solidFill>
              <a:latin typeface="Microsoft YaHei" pitchFamily="34" charset="0"/>
              <a:ea typeface="Microsoft YaHei" pitchFamily="34" charset="-122"/>
            </a:endParaRPr>
          </a:p>
          <a:p>
            <a:endParaRPr lang="en-US" altLang="zh-CN" dirty="0">
              <a:solidFill>
                <a:srgbClr val="4A5568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       先用密钥和一次性随机数生成一串与明文等长的密钥流。生成方式是反复做加法、异或、循环移位这三种简单运算，每种运算做</a:t>
            </a:r>
            <a:r>
              <a:rPr lang="en-US" altLang="zh-CN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20</a:t>
            </a: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轮。</a:t>
            </a:r>
            <a:endParaRPr lang="en-US" altLang="zh-CN" sz="2000" dirty="0">
              <a:solidFill>
                <a:srgbClr val="4A5568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       然后把密钥流和明文逐字节异或得到密文。解密时用同样的密钥流和密文再次异或就能还原明文。最后用</a:t>
            </a:r>
            <a:r>
              <a:rPr lang="en-US" altLang="zh-CN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Poly1305</a:t>
            </a: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算法对密文计算出一个</a:t>
            </a:r>
            <a:r>
              <a:rPr lang="en-US" altLang="zh-CN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16</a:t>
            </a: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字节的认证标签。</a:t>
            </a:r>
            <a:endParaRPr lang="en-US" altLang="zh-CN" sz="2000" dirty="0">
              <a:solidFill>
                <a:srgbClr val="4A5568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       整个过程只依赖</a:t>
            </a:r>
            <a:r>
              <a:rPr lang="en-US" altLang="zh-CN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CPU</a:t>
            </a: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的基本算术指令，不需要任何专用硬件，但因为没有硬件加速，在</a:t>
            </a:r>
            <a:r>
              <a:rPr lang="en-US" altLang="zh-CN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ARMv8</a:t>
            </a: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处理器上要比</a:t>
            </a:r>
            <a:r>
              <a:rPr lang="en-US" altLang="zh-CN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AES-256-GCM</a:t>
            </a:r>
            <a:r>
              <a:rPr lang="zh-CN" altLang="en-US" sz="2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</a:rPr>
              <a:t>算法慢。</a:t>
            </a:r>
            <a:endParaRPr lang="en-US" altLang="zh-CN" sz="2000" dirty="0">
              <a:solidFill>
                <a:srgbClr val="4A5568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36C52A6-672F-822F-7A67-AEB28F1EDD82}"/>
              </a:ext>
            </a:extLst>
          </p:cNvPr>
          <p:cNvSpPr/>
          <p:nvPr/>
        </p:nvSpPr>
        <p:spPr>
          <a:xfrm>
            <a:off x="6231372" y="1217361"/>
            <a:ext cx="5242559" cy="50744"/>
          </a:xfrm>
          <a:prstGeom prst="rect">
            <a:avLst/>
          </a:prstGeom>
          <a:solidFill>
            <a:srgbClr val="E07C24"/>
          </a:solidFill>
          <a:ln w="12700">
            <a:solidFill>
              <a:srgbClr val="E07C24"/>
            </a:solidFill>
            <a:prstDash val="solid"/>
          </a:ln>
        </p:spPr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EBF556C-8CF6-20C0-36DD-C0EA597201DC}"/>
              </a:ext>
            </a:extLst>
          </p:cNvPr>
          <p:cNvSpPr txBox="1"/>
          <p:nvPr/>
        </p:nvSpPr>
        <p:spPr>
          <a:xfrm>
            <a:off x="-6099" y="129016"/>
            <a:ext cx="6099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1. CRYPT</a:t>
            </a:r>
            <a:r>
              <a:rPr lang="zh-CN" altLang="en-US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算子定义</a:t>
            </a:r>
            <a:endParaRPr lang="en-US" altLang="zh-CN" sz="3200" b="1" dirty="0">
              <a:solidFill>
                <a:srgbClr val="1A5F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6041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C0C752-16AE-F052-9F30-17FF4F7E9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4ED9F2-344D-DF1F-0509-311F4F5CBED7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8CBC813-0705-9654-2BF0-427E4E851AE6}"/>
              </a:ext>
            </a:extLst>
          </p:cNvPr>
          <p:cNvSpPr/>
          <p:nvPr/>
        </p:nvSpPr>
        <p:spPr>
          <a:xfrm>
            <a:off x="-566928" y="-512064"/>
            <a:ext cx="1572768" cy="1572768"/>
          </a:xfrm>
          <a:prstGeom prst="ellipse">
            <a:avLst/>
          </a:prstGeom>
          <a:solidFill>
            <a:srgbClr val="1A5F9E">
              <a:alpha val="8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85FA72F-D48A-CA81-A8EF-0C4B63B3B801}"/>
              </a:ext>
            </a:extLst>
          </p:cNvPr>
          <p:cNvSpPr/>
          <p:nvPr/>
        </p:nvSpPr>
        <p:spPr>
          <a:xfrm>
            <a:off x="164592" y="18288"/>
            <a:ext cx="566928" cy="566928"/>
          </a:xfrm>
          <a:prstGeom prst="ellipse">
            <a:avLst/>
          </a:prstGeom>
          <a:solidFill>
            <a:srgbClr val="1A5F9E">
              <a:alpha val="12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59FD035-ABE1-38D6-9A9C-3FF2C0AB0C1C}"/>
              </a:ext>
            </a:extLst>
          </p:cNvPr>
          <p:cNvSpPr/>
          <p:nvPr/>
        </p:nvSpPr>
        <p:spPr>
          <a:xfrm>
            <a:off x="10652760" y="5989320"/>
            <a:ext cx="1645920" cy="1645920"/>
          </a:xfrm>
          <a:prstGeom prst="ellipse">
            <a:avLst/>
          </a:prstGeom>
          <a:solidFill>
            <a:srgbClr val="1A5F9E">
              <a:alpha val="8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5387FF8-2777-A990-83AD-EE8648B80A22}"/>
              </a:ext>
            </a:extLst>
          </p:cNvPr>
          <p:cNvSpPr/>
          <p:nvPr/>
        </p:nvSpPr>
        <p:spPr>
          <a:xfrm>
            <a:off x="10927080" y="6272784"/>
            <a:ext cx="685800" cy="685800"/>
          </a:xfrm>
          <a:prstGeom prst="ellipse">
            <a:avLst/>
          </a:prstGeom>
          <a:solidFill>
            <a:srgbClr val="1A5F9E">
              <a:alpha val="12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6AE09BD-23F2-2819-ECA9-EAA112919084}"/>
              </a:ext>
            </a:extLst>
          </p:cNvPr>
          <p:cNvSpPr/>
          <p:nvPr/>
        </p:nvSpPr>
        <p:spPr>
          <a:xfrm>
            <a:off x="1432407" y="320954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40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2. </a:t>
            </a:r>
            <a:r>
              <a:rPr lang="zh-CN" altLang="en-US" sz="40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函数设计</a:t>
            </a:r>
            <a:endParaRPr lang="en-US" altLang="zh-CN" sz="4000" b="1" dirty="0">
              <a:solidFill>
                <a:srgbClr val="1A5F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405C1F4-3B4D-97C0-7E01-F187E0D05EF8}"/>
              </a:ext>
            </a:extLst>
          </p:cNvPr>
          <p:cNvSpPr/>
          <p:nvPr/>
        </p:nvSpPr>
        <p:spPr>
          <a:xfrm>
            <a:off x="5577840" y="6492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26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000841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D1AAA6-1FC8-C874-8BC6-9E6135AD3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FF0217-420B-32E2-AF26-561A482D2F60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C5C7361-1C17-323B-FF64-5BF92696599E}"/>
              </a:ext>
            </a:extLst>
          </p:cNvPr>
          <p:cNvSpPr/>
          <p:nvPr/>
        </p:nvSpPr>
        <p:spPr>
          <a:xfrm>
            <a:off x="5577840" y="6492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26</a:t>
            </a:r>
            <a:endParaRPr lang="en-US" sz="75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CF587C6-4E62-CC97-F458-4BE7633868EB}"/>
              </a:ext>
            </a:extLst>
          </p:cNvPr>
          <p:cNvSpPr txBox="1"/>
          <p:nvPr/>
        </p:nvSpPr>
        <p:spPr>
          <a:xfrm>
            <a:off x="-6099" y="129016"/>
            <a:ext cx="6099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2. </a:t>
            </a:r>
            <a:r>
              <a:rPr lang="zh-CN" altLang="en-US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函数设计</a:t>
            </a:r>
            <a:endParaRPr lang="en-US" altLang="zh-CN" sz="3200" b="1" dirty="0">
              <a:solidFill>
                <a:srgbClr val="1A5F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03915D6E-42CF-7EB2-0C10-BE7CB5FB7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057848"/>
              </p:ext>
            </p:extLst>
          </p:nvPr>
        </p:nvGraphicFramePr>
        <p:xfrm>
          <a:off x="573846" y="1165597"/>
          <a:ext cx="11039541" cy="2624170"/>
        </p:xfrm>
        <a:graphic>
          <a:graphicData uri="http://schemas.openxmlformats.org/drawingml/2006/table">
            <a:tbl>
              <a:tblPr/>
              <a:tblGrid>
                <a:gridCol w="5713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6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2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 err="1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接口</a:t>
                      </a:r>
                      <a:r>
                        <a:rPr lang="zh-CN" altLang="en-US" sz="2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函数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18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crypt_linux_iopointer(int horizon, void *input, void *output)</a:t>
                      </a:r>
                      <a:endParaRPr lang="en-US" sz="2400" dirty="0">
                        <a:solidFill>
                          <a:srgbClr val="00B0F0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 err="1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调用者提供</a:t>
                      </a:r>
                      <a:r>
                        <a:rPr lang="zh-CN" altLang="en-US" sz="2400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数据，用于生产环境</a:t>
                      </a:r>
                      <a:endParaRPr lang="en-US" sz="2400" dirty="0">
                        <a:solidFill>
                          <a:srgbClr val="00B0F0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18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crypt_linux_ioself_profiling(int horizon)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 err="1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自动生成</a:t>
                      </a:r>
                      <a:r>
                        <a:rPr lang="zh-CN" altLang="en-US" sz="24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数据和计时，用于性能采样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2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crypt_linux_ioself(int horizon)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 err="1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自动生成</a:t>
                      </a:r>
                      <a:r>
                        <a:rPr lang="zh-CN" altLang="en-US" sz="24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r>
                        <a:rPr lang="en-US" sz="24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，</a:t>
                      </a:r>
                      <a:r>
                        <a:rPr lang="zh-CN" altLang="en-US" sz="24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用于功能测试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F2F7D725-B9BA-0EB2-57A8-636E775F5627}"/>
              </a:ext>
            </a:extLst>
          </p:cNvPr>
          <p:cNvSpPr txBox="1"/>
          <p:nvPr/>
        </p:nvSpPr>
        <p:spPr>
          <a:xfrm>
            <a:off x="573846" y="3785300"/>
            <a:ext cx="110395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调用者提供输入缓冲区指针和输出缓冲区指针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根据输入参数自动判断执行加密还是解密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函数内部进行全面的参数合法性检查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返回状态码，</a:t>
            </a:r>
            <a:r>
              <a:rPr lang="en-US" altLang="zh-CN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0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表示成功</a:t>
            </a:r>
          </a:p>
        </p:txBody>
      </p:sp>
    </p:spTree>
    <p:extLst>
      <p:ext uri="{BB962C8B-B14F-4D97-AF65-F5344CB8AC3E}">
        <p14:creationId xmlns:p14="http://schemas.microsoft.com/office/powerpoint/2010/main" val="4089544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E82E0-D20C-88D8-FAFB-855A64987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D0C3DCB-B7CD-2CD4-CE40-1FC3C129360E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7EAD28D-FD59-D94D-288F-B649B09F6D67}"/>
              </a:ext>
            </a:extLst>
          </p:cNvPr>
          <p:cNvSpPr/>
          <p:nvPr/>
        </p:nvSpPr>
        <p:spPr>
          <a:xfrm>
            <a:off x="5577840" y="6492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26</a:t>
            </a:r>
            <a:endParaRPr lang="en-US" sz="75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5F4FD7C-FE0B-E1D6-F24C-F39DA26F795F}"/>
              </a:ext>
            </a:extLst>
          </p:cNvPr>
          <p:cNvSpPr txBox="1"/>
          <p:nvPr/>
        </p:nvSpPr>
        <p:spPr>
          <a:xfrm>
            <a:off x="-6099" y="129016"/>
            <a:ext cx="6099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2. </a:t>
            </a:r>
            <a:r>
              <a:rPr lang="zh-CN" altLang="en-US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函数设计</a:t>
            </a:r>
            <a:endParaRPr lang="en-US" altLang="zh-CN" sz="3200" b="1" dirty="0">
              <a:solidFill>
                <a:srgbClr val="1A5F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D4AC2A0B-F555-17A7-0AD8-E686389F8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012312"/>
              </p:ext>
            </p:extLst>
          </p:nvPr>
        </p:nvGraphicFramePr>
        <p:xfrm>
          <a:off x="573846" y="1165597"/>
          <a:ext cx="11039541" cy="2624170"/>
        </p:xfrm>
        <a:graphic>
          <a:graphicData uri="http://schemas.openxmlformats.org/drawingml/2006/table">
            <a:tbl>
              <a:tblPr/>
              <a:tblGrid>
                <a:gridCol w="5713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6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2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 err="1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接口</a:t>
                      </a:r>
                      <a:r>
                        <a:rPr lang="zh-CN" altLang="en-US" sz="2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函数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18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crypt_linux_iopointer(int horizon, void *input, void *output)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kern="1200" dirty="0" err="1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调用者提供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数据，用于生产环境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1876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2400" kern="1200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crypt_linux_ioself_profiling(int horizon)</a:t>
                      </a:r>
                      <a:endParaRPr lang="en-US" sz="2400" kern="1200" dirty="0">
                        <a:solidFill>
                          <a:srgbClr val="00B0F0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2400" kern="1200" dirty="0" err="1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自动生成</a:t>
                      </a:r>
                      <a:r>
                        <a:rPr lang="zh-CN" altLang="en-US" sz="2400" kern="1200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数据和计时，用于性能采样</a:t>
                      </a:r>
                      <a:endParaRPr lang="en-US" sz="2400" kern="1200" dirty="0">
                        <a:solidFill>
                          <a:srgbClr val="00B0F0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2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crypt_linux_ioself(int horizon)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 err="1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自动生成</a:t>
                      </a:r>
                      <a:r>
                        <a:rPr lang="zh-CN" altLang="en-US" sz="24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r>
                        <a:rPr lang="en-US" sz="24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，</a:t>
                      </a:r>
                      <a:r>
                        <a:rPr lang="zh-CN" altLang="en-US" sz="24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用于功能测试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C2AF7FE2-1E32-D815-2DE2-F8BB9DFE4E39}"/>
              </a:ext>
            </a:extLst>
          </p:cNvPr>
          <p:cNvSpPr txBox="1"/>
          <p:nvPr/>
        </p:nvSpPr>
        <p:spPr>
          <a:xfrm>
            <a:off x="573846" y="3789767"/>
            <a:ext cx="110395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自己生成测试数据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调用</a:t>
            </a:r>
            <a:r>
              <a:rPr lang="en-US" altLang="zh-CN" sz="2400" dirty="0" err="1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crypt_linux_iopointer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执行加密，调用</a:t>
            </a:r>
            <a:r>
              <a:rPr lang="en-US" altLang="zh-CN" sz="2400" dirty="0" err="1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crypt_linux_iopointer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执行解密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校验解密结果是否与原始明文完全一致（</a:t>
            </a:r>
            <a:r>
              <a:rPr lang="en-US" altLang="zh-CN" sz="2400" dirty="0" err="1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memcmp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）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使用纳秒级精度时间函数统计每次加解密的执行时间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采样</a:t>
            </a:r>
            <a:r>
              <a:rPr lang="en-US" altLang="zh-CN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30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次，计算平均值、最小值、最大值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返回前释放所有分配的内存，确保下次采样不受影响</a:t>
            </a:r>
          </a:p>
        </p:txBody>
      </p:sp>
    </p:spTree>
    <p:extLst>
      <p:ext uri="{BB962C8B-B14F-4D97-AF65-F5344CB8AC3E}">
        <p14:creationId xmlns:p14="http://schemas.microsoft.com/office/powerpoint/2010/main" val="3894861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BE10DE-F047-C357-74B9-0ED11AB19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F74216-35E2-FC37-01EE-D994EE7EADBF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6EB1F08-D85A-7EF8-CFCC-0509C9992E01}"/>
              </a:ext>
            </a:extLst>
          </p:cNvPr>
          <p:cNvSpPr/>
          <p:nvPr/>
        </p:nvSpPr>
        <p:spPr>
          <a:xfrm>
            <a:off x="5577840" y="6492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26</a:t>
            </a:r>
            <a:endParaRPr lang="en-US" sz="75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41B4007-C8C9-38D6-310C-92A47FF142E3}"/>
              </a:ext>
            </a:extLst>
          </p:cNvPr>
          <p:cNvSpPr txBox="1"/>
          <p:nvPr/>
        </p:nvSpPr>
        <p:spPr>
          <a:xfrm>
            <a:off x="-6099" y="129016"/>
            <a:ext cx="6099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2. </a:t>
            </a:r>
            <a:r>
              <a:rPr lang="zh-CN" altLang="en-US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函数设计</a:t>
            </a:r>
            <a:endParaRPr lang="en-US" altLang="zh-CN" sz="3200" b="1" dirty="0">
              <a:solidFill>
                <a:srgbClr val="1A5F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13248E34-53E3-9F02-18FB-C16D40851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688719"/>
              </p:ext>
            </p:extLst>
          </p:nvPr>
        </p:nvGraphicFramePr>
        <p:xfrm>
          <a:off x="573846" y="1165597"/>
          <a:ext cx="11039541" cy="2624170"/>
        </p:xfrm>
        <a:graphic>
          <a:graphicData uri="http://schemas.openxmlformats.org/drawingml/2006/table">
            <a:tbl>
              <a:tblPr/>
              <a:tblGrid>
                <a:gridCol w="5713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6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2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 err="1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接口</a:t>
                      </a:r>
                      <a:r>
                        <a:rPr lang="zh-CN" altLang="en-US" sz="2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函数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18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crypt_linux_iopointer(int horizon, void *input, void *output)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kern="1200" dirty="0" err="1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调用者提供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数据，用于生产环境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1876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crypt_linux_ioself_profiling(int horizon)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2400" kern="1200" dirty="0" err="1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自动生成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数据和计时，用于性能采样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2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kern="1200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crypt_linux_ioself(int horizon)</a:t>
                      </a:r>
                      <a:endParaRPr lang="en-US" sz="2400" kern="1200" dirty="0">
                        <a:solidFill>
                          <a:srgbClr val="00B0F0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kern="1200" dirty="0" err="1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自动生成</a:t>
                      </a:r>
                      <a:r>
                        <a:rPr lang="zh-CN" altLang="en-US" sz="2400" kern="1200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r>
                        <a:rPr lang="en-US" sz="2400" kern="1200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，</a:t>
                      </a:r>
                      <a:r>
                        <a:rPr lang="zh-CN" altLang="en-US" sz="2400" kern="1200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用于功能测试</a:t>
                      </a:r>
                      <a:endParaRPr lang="en-US" sz="2400" kern="1200" dirty="0">
                        <a:solidFill>
                          <a:srgbClr val="00B0F0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934DCCC1-9A4E-2B53-DFC6-1A46AF6EDFB4}"/>
              </a:ext>
            </a:extLst>
          </p:cNvPr>
          <p:cNvSpPr txBox="1"/>
          <p:nvPr/>
        </p:nvSpPr>
        <p:spPr>
          <a:xfrm>
            <a:off x="573846" y="3789767"/>
            <a:ext cx="110395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与前者完全相同的功能逻辑：</a:t>
            </a:r>
          </a:p>
          <a:p>
            <a:pPr marL="0" lvl="1"/>
            <a:r>
              <a:rPr lang="en-US" altLang="zh-CN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	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自生成测试数据</a:t>
            </a:r>
          </a:p>
          <a:p>
            <a:pPr marL="0" lvl="1"/>
            <a:r>
              <a:rPr lang="en-US" altLang="zh-CN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	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完整执行加密→解密</a:t>
            </a:r>
          </a:p>
          <a:p>
            <a:pPr marL="0" lvl="1"/>
            <a:r>
              <a:rPr lang="en-US" altLang="zh-CN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	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用 </a:t>
            </a:r>
            <a:r>
              <a:rPr lang="en-US" altLang="zh-CN" sz="2400" dirty="0" err="1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memcmp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 校验解密结果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区别：不计时、不打印输出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用于调用者只想测试功能正确性、不需要性能数据的场景</a:t>
            </a:r>
          </a:p>
        </p:txBody>
      </p:sp>
    </p:spTree>
    <p:extLst>
      <p:ext uri="{BB962C8B-B14F-4D97-AF65-F5344CB8AC3E}">
        <p14:creationId xmlns:p14="http://schemas.microsoft.com/office/powerpoint/2010/main" val="2941762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64C4C9-855C-35CA-BF37-ADA333543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9D940A9-D2B3-6390-9838-F43BFD539785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93320E0-5A80-3865-D760-3DA6476E6FD2}"/>
              </a:ext>
            </a:extLst>
          </p:cNvPr>
          <p:cNvSpPr/>
          <p:nvPr/>
        </p:nvSpPr>
        <p:spPr>
          <a:xfrm>
            <a:off x="5577840" y="6492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26</a:t>
            </a:r>
            <a:endParaRPr lang="en-US" sz="75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798C763-EF8C-E46C-032C-11E079306A83}"/>
              </a:ext>
            </a:extLst>
          </p:cNvPr>
          <p:cNvSpPr txBox="1"/>
          <p:nvPr/>
        </p:nvSpPr>
        <p:spPr>
          <a:xfrm>
            <a:off x="-6099" y="129016"/>
            <a:ext cx="6099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2. </a:t>
            </a:r>
            <a:r>
              <a:rPr lang="zh-CN" altLang="en-US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函数设计</a:t>
            </a:r>
            <a:endParaRPr lang="en-US" altLang="zh-CN" sz="3200" b="1" dirty="0">
              <a:solidFill>
                <a:srgbClr val="1A5F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6FCED6A1-7BC8-9D60-BFF3-A01529BBA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453104"/>
              </p:ext>
            </p:extLst>
          </p:nvPr>
        </p:nvGraphicFramePr>
        <p:xfrm>
          <a:off x="573846" y="1165597"/>
          <a:ext cx="11039541" cy="2163961"/>
        </p:xfrm>
        <a:graphic>
          <a:graphicData uri="http://schemas.openxmlformats.org/drawingml/2006/table">
            <a:tbl>
              <a:tblPr/>
              <a:tblGrid>
                <a:gridCol w="5713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6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2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b="1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时间函数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 err="1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18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 err="1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Timestamp_t</a:t>
                      </a: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 timestamp()</a:t>
                      </a: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返回当前时间戳，返回类型为</a:t>
                      </a:r>
                      <a:r>
                        <a:rPr lang="en-US" altLang="zh-CN" sz="2400" kern="1200" dirty="0" err="1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Timestamp_t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（即</a:t>
                      </a: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uint64_t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）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1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int64_t </a:t>
                      </a:r>
                      <a:r>
                        <a:rPr lang="en-US" altLang="zh-CN" sz="2400" kern="1200" dirty="0" err="1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timestamp_diff</a:t>
                      </a: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(</a:t>
                      </a:r>
                      <a:r>
                        <a:rPr lang="en-US" altLang="zh-CN" sz="2400" kern="1200" dirty="0" err="1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Timestamp_t</a:t>
                      </a: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 start, </a:t>
                      </a:r>
                      <a:r>
                        <a:rPr lang="en-US" altLang="zh-CN" sz="2400" kern="1200" dirty="0" err="1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Timestamp_t</a:t>
                      </a: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 end);</a:t>
                      </a: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返回时间差，返回类型为</a:t>
                      </a: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int64_t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50903D28-E220-882A-8745-01583908A320}"/>
              </a:ext>
            </a:extLst>
          </p:cNvPr>
          <p:cNvSpPr txBox="1"/>
          <p:nvPr/>
        </p:nvSpPr>
        <p:spPr>
          <a:xfrm>
            <a:off x="573846" y="3789767"/>
            <a:ext cx="110395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时钟源选择</a:t>
            </a:r>
            <a:r>
              <a:rPr lang="en-US" altLang="zh-CN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CLOCK_MONOTONIC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，单调时钟，不受系统时间调整影响</a:t>
            </a:r>
            <a:endParaRPr lang="en-US" altLang="zh-CN" sz="2400" dirty="0">
              <a:solidFill>
                <a:srgbClr val="2D3748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精度为纳秒，满足精度要求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时间戳返回类型为</a:t>
            </a:r>
            <a:r>
              <a:rPr lang="en-US" altLang="zh-CN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uint64_t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，纳秒值可能很大，需要</a:t>
            </a:r>
            <a:r>
              <a:rPr lang="en-US" altLang="zh-CN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64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位</a:t>
            </a:r>
            <a:endParaRPr lang="en-US" altLang="zh-CN" sz="2400" dirty="0">
              <a:solidFill>
                <a:srgbClr val="2D3748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时间差值返回类型为</a:t>
            </a:r>
            <a:r>
              <a:rPr lang="en-US" altLang="zh-CN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int64_t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，有符号，便于检测异常</a:t>
            </a:r>
          </a:p>
        </p:txBody>
      </p:sp>
    </p:spTree>
    <p:extLst>
      <p:ext uri="{BB962C8B-B14F-4D97-AF65-F5344CB8AC3E}">
        <p14:creationId xmlns:p14="http://schemas.microsoft.com/office/powerpoint/2010/main" val="902106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135753-C4AD-8A02-4959-2D768D03E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E798143-8329-D7FA-BA53-C8694E964FE8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94E8A10-6414-5A87-C810-C14E5AE57D5C}"/>
              </a:ext>
            </a:extLst>
          </p:cNvPr>
          <p:cNvSpPr/>
          <p:nvPr/>
        </p:nvSpPr>
        <p:spPr>
          <a:xfrm>
            <a:off x="5577840" y="6492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26</a:t>
            </a:r>
            <a:endParaRPr lang="en-US" sz="75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C8E1A21-5401-8D2B-3E62-94965878CAA3}"/>
              </a:ext>
            </a:extLst>
          </p:cNvPr>
          <p:cNvSpPr txBox="1"/>
          <p:nvPr/>
        </p:nvSpPr>
        <p:spPr>
          <a:xfrm>
            <a:off x="-6099" y="129016"/>
            <a:ext cx="6099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2. </a:t>
            </a:r>
            <a:r>
              <a:rPr lang="zh-CN" altLang="en-US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函数设计</a:t>
            </a:r>
            <a:endParaRPr lang="en-US" altLang="zh-CN" sz="3200" b="1" dirty="0">
              <a:solidFill>
                <a:srgbClr val="1A5F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E02AA0E5-E353-5D58-2CBD-F2CC18A0E1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637618"/>
              </p:ext>
            </p:extLst>
          </p:nvPr>
        </p:nvGraphicFramePr>
        <p:xfrm>
          <a:off x="573846" y="1165597"/>
          <a:ext cx="11039541" cy="5062480"/>
        </p:xfrm>
        <a:graphic>
          <a:graphicData uri="http://schemas.openxmlformats.org/drawingml/2006/table">
            <a:tbl>
              <a:tblPr/>
              <a:tblGrid>
                <a:gridCol w="5713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6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56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main</a:t>
                      </a:r>
                      <a:r>
                        <a:rPr lang="zh-CN" altLang="en-US" sz="2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函数中的输入规模（</a:t>
                      </a:r>
                      <a:r>
                        <a:rPr lang="en-US" altLang="zh-CN" sz="2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horizon</a:t>
                      </a:r>
                      <a:r>
                        <a:rPr lang="zh-CN" altLang="en-US" sz="2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）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对应场景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0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64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64B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）</a:t>
                      </a:r>
                      <a:endParaRPr lang="en-US" altLang="zh-CN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+mn-cs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极小签名包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+mn-cs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230392"/>
                  </a:ext>
                </a:extLst>
              </a:tr>
              <a:tr h="5790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256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256B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）</a:t>
                      </a:r>
                      <a:endParaRPr lang="en-US" altLang="zh-CN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+mn-cs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小签名包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+mn-cs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206054"/>
                  </a:ext>
                </a:extLst>
              </a:tr>
              <a:tr h="5790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1024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1KB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）</a:t>
                      </a:r>
                      <a:endParaRPr lang="en-US" altLang="zh-CN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+mn-cs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安全启动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+mn-cs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460377"/>
                  </a:ext>
                </a:extLst>
              </a:tr>
              <a:tr h="5790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4096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4KB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）</a:t>
                      </a:r>
                      <a:endParaRPr lang="en-US" altLang="zh-CN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+mn-cs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安全启动</a:t>
                      </a: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/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小消息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+mn-cs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070425"/>
                  </a:ext>
                </a:extLst>
              </a:tr>
              <a:tr h="5790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16*1024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16KB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）</a:t>
                      </a:r>
                      <a:endParaRPr lang="en-US" altLang="zh-CN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+mn-cs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中等消息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+mn-cs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203426"/>
                  </a:ext>
                </a:extLst>
              </a:tr>
              <a:tr h="5790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64*1024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64KB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）</a:t>
                      </a:r>
                      <a:endParaRPr lang="en-US" altLang="zh-CN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+mn-cs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CAN/ETH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信号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+mn-cs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194082"/>
                  </a:ext>
                </a:extLst>
              </a:tr>
              <a:tr h="5790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256*1024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256KB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）</a:t>
                      </a:r>
                      <a:endParaRPr lang="en-US" altLang="zh-CN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+mn-cs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中等固件包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+mn-cs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134095"/>
                  </a:ext>
                </a:extLst>
              </a:tr>
              <a:tr h="5790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1024*1024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1MB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）</a:t>
                      </a:r>
                      <a:endParaRPr lang="en-US" altLang="zh-CN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+mn-cs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固件</a:t>
                      </a: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OTA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更新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+mn-cs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385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8193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8D768A-3067-6CB4-A407-25B8DBE11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1FA558-1045-7827-D360-CF83EFB8EE9E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1ED832A-2F46-6B7E-BFF9-E80C650BF11F}"/>
              </a:ext>
            </a:extLst>
          </p:cNvPr>
          <p:cNvSpPr/>
          <p:nvPr/>
        </p:nvSpPr>
        <p:spPr>
          <a:xfrm>
            <a:off x="-566928" y="-512064"/>
            <a:ext cx="1572768" cy="1572768"/>
          </a:xfrm>
          <a:prstGeom prst="ellipse">
            <a:avLst/>
          </a:prstGeom>
          <a:solidFill>
            <a:srgbClr val="1A5F9E">
              <a:alpha val="8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65ADC24-00BF-D65C-7897-2D8F34E0C0F2}"/>
              </a:ext>
            </a:extLst>
          </p:cNvPr>
          <p:cNvSpPr/>
          <p:nvPr/>
        </p:nvSpPr>
        <p:spPr>
          <a:xfrm>
            <a:off x="164592" y="18288"/>
            <a:ext cx="566928" cy="566928"/>
          </a:xfrm>
          <a:prstGeom prst="ellipse">
            <a:avLst/>
          </a:prstGeom>
          <a:solidFill>
            <a:srgbClr val="1A5F9E">
              <a:alpha val="12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80826F0-D5A8-EE5C-5968-167996DCA497}"/>
              </a:ext>
            </a:extLst>
          </p:cNvPr>
          <p:cNvSpPr/>
          <p:nvPr/>
        </p:nvSpPr>
        <p:spPr>
          <a:xfrm>
            <a:off x="10652760" y="5989320"/>
            <a:ext cx="1645920" cy="1645920"/>
          </a:xfrm>
          <a:prstGeom prst="ellipse">
            <a:avLst/>
          </a:prstGeom>
          <a:solidFill>
            <a:srgbClr val="1A5F9E">
              <a:alpha val="8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E146020-F8C1-6FD1-7B21-4CCBC03BFAAC}"/>
              </a:ext>
            </a:extLst>
          </p:cNvPr>
          <p:cNvSpPr/>
          <p:nvPr/>
        </p:nvSpPr>
        <p:spPr>
          <a:xfrm>
            <a:off x="10927080" y="6272784"/>
            <a:ext cx="685800" cy="685800"/>
          </a:xfrm>
          <a:prstGeom prst="ellipse">
            <a:avLst/>
          </a:prstGeom>
          <a:solidFill>
            <a:srgbClr val="1A5F9E">
              <a:alpha val="12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0C2D196-CAE2-961A-57DA-AEDD658A93D0}"/>
              </a:ext>
            </a:extLst>
          </p:cNvPr>
          <p:cNvSpPr/>
          <p:nvPr/>
        </p:nvSpPr>
        <p:spPr>
          <a:xfrm>
            <a:off x="1432407" y="320954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40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3. </a:t>
            </a:r>
            <a:r>
              <a:rPr lang="zh-CN" altLang="en-US" sz="40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实验设计</a:t>
            </a:r>
            <a:endParaRPr lang="en-US" altLang="zh-CN" sz="4000" b="1" dirty="0">
              <a:solidFill>
                <a:srgbClr val="1A5F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20CBAE3-73E2-7B3D-C2DE-1F979C6B3E65}"/>
              </a:ext>
            </a:extLst>
          </p:cNvPr>
          <p:cNvSpPr/>
          <p:nvPr/>
        </p:nvSpPr>
        <p:spPr>
          <a:xfrm>
            <a:off x="5577840" y="6492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26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3485611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C409F0-C104-8AC5-623D-EAE4BD8A0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3338D30-AE7C-B419-7C44-0985F1F40C33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664167-FF83-8D6F-517A-2F65C20834AB}"/>
              </a:ext>
            </a:extLst>
          </p:cNvPr>
          <p:cNvSpPr/>
          <p:nvPr/>
        </p:nvSpPr>
        <p:spPr>
          <a:xfrm>
            <a:off x="5577840" y="6492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26</a:t>
            </a:r>
            <a:endParaRPr lang="en-US" sz="75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FEF4E10-DDED-E7A5-344E-19B611581B74}"/>
              </a:ext>
            </a:extLst>
          </p:cNvPr>
          <p:cNvSpPr txBox="1"/>
          <p:nvPr/>
        </p:nvSpPr>
        <p:spPr>
          <a:xfrm>
            <a:off x="-6099" y="129016"/>
            <a:ext cx="6099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3. </a:t>
            </a:r>
            <a:r>
              <a:rPr lang="zh-CN" altLang="en-US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实验设计</a:t>
            </a:r>
            <a:endParaRPr lang="en-US" altLang="zh-CN" sz="3200" b="1" dirty="0">
              <a:solidFill>
                <a:srgbClr val="1A5F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F08D4809-4CD4-021A-E070-5AC1693F2A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444800"/>
              </p:ext>
            </p:extLst>
          </p:nvPr>
        </p:nvGraphicFramePr>
        <p:xfrm>
          <a:off x="573846" y="839101"/>
          <a:ext cx="11039541" cy="5179798"/>
        </p:xfrm>
        <a:graphic>
          <a:graphicData uri="http://schemas.openxmlformats.org/drawingml/2006/table">
            <a:tbl>
              <a:tblPr/>
              <a:tblGrid>
                <a:gridCol w="5713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6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0418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</a:rPr>
                        <a:t>实验配置</a:t>
                      </a:r>
                      <a:endParaRPr lang="en-US" sz="2400" dirty="0">
                        <a:latin typeface="Microsoft YaHei" charset="0"/>
                        <a:ea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9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334389"/>
                  </a:ext>
                </a:extLst>
              </a:tr>
              <a:tr h="8518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硬件</a:t>
                      </a:r>
                      <a:endParaRPr lang="en-US" altLang="zh-CN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香橙派鲲鹏</a:t>
                      </a: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Pro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开发板</a:t>
                      </a:r>
                      <a:endParaRPr lang="en-US" altLang="zh-CN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650812"/>
                  </a:ext>
                </a:extLst>
              </a:tr>
              <a:tr h="851876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CPU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架构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ARMv8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1876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操作系统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2400" kern="1200" dirty="0" err="1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openEuler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764806"/>
                  </a:ext>
                </a:extLst>
              </a:tr>
              <a:tr h="851876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编译器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2400" kern="1200" dirty="0" err="1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gcc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372441"/>
                  </a:ext>
                </a:extLst>
              </a:tr>
              <a:tr h="851876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加密库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OpenSSL </a:t>
                      </a:r>
                      <a:r>
                        <a:rPr lang="en-US" altLang="zh-CN" sz="2400" kern="1200" dirty="0" err="1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libcrypto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434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100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12690" y="3464062"/>
            <a:ext cx="1696212" cy="561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zh-CN" altLang="en-US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源代码</a:t>
            </a:r>
            <a:r>
              <a:rPr lang="en-US" sz="3200" b="1" dirty="0" err="1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文件</a:t>
            </a:r>
            <a:endParaRPr lang="en-US" sz="3200" b="1" dirty="0">
              <a:solidFill>
                <a:srgbClr val="1A5F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5577840" y="6492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26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675640" y="1651762"/>
            <a:ext cx="2971800" cy="161950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en-US" altLang="zh-CN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r>
              <a:rPr lang="en-US" altLang="zh-CN" b="1" dirty="0" err="1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crypt_linux.h</a:t>
            </a:r>
            <a:endParaRPr lang="en-US" altLang="zh-CN" b="1" dirty="0">
              <a:solidFill>
                <a:srgbClr val="2D3748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endParaRPr lang="en-US" altLang="zh-CN" dirty="0"/>
          </a:p>
          <a:p>
            <a:r>
              <a:rPr lang="en-US" altLang="zh-CN" dirty="0"/>
              <a:t>CRYPT </a:t>
            </a:r>
            <a:r>
              <a:rPr lang="zh-CN" altLang="en-US" dirty="0"/>
              <a:t>算子公共接口、数据结构和宏定义</a:t>
            </a:r>
            <a:endParaRPr lang="en-US" altLang="zh-CN" dirty="0"/>
          </a:p>
        </p:txBody>
      </p:sp>
      <p:sp>
        <p:nvSpPr>
          <p:cNvPr id="9" name="Shape 6"/>
          <p:cNvSpPr/>
          <p:nvPr/>
        </p:nvSpPr>
        <p:spPr>
          <a:xfrm>
            <a:off x="803656" y="1761490"/>
            <a:ext cx="164592" cy="164592"/>
          </a:xfrm>
          <a:prstGeom prst="ellipse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35856" y="1258589"/>
            <a:ext cx="2971800" cy="161950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en-US" altLang="zh-CN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r>
              <a:rPr lang="en-US" altLang="zh-CN" b="1" dirty="0" err="1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crypt_linux.c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CRYPT </a:t>
            </a:r>
            <a:r>
              <a:rPr lang="zh-CN" altLang="en-US" dirty="0"/>
              <a:t>算子的加密、解密、完整性校验、自测和 </a:t>
            </a:r>
            <a:r>
              <a:rPr lang="en-US" altLang="zh-CN" dirty="0"/>
              <a:t>profiling </a:t>
            </a:r>
            <a:r>
              <a:rPr lang="zh-CN" altLang="en-US" dirty="0"/>
              <a:t>实现</a:t>
            </a:r>
          </a:p>
        </p:txBody>
      </p:sp>
      <p:sp>
        <p:nvSpPr>
          <p:cNvPr id="12" name="Shape 9"/>
          <p:cNvSpPr/>
          <p:nvPr/>
        </p:nvSpPr>
        <p:spPr>
          <a:xfrm>
            <a:off x="4563872" y="1368317"/>
            <a:ext cx="164592" cy="164592"/>
          </a:xfrm>
          <a:prstGeom prst="ellipse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96072" y="1651762"/>
            <a:ext cx="2971800" cy="161950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en-US" altLang="zh-CN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r>
              <a:rPr lang="en-US" altLang="zh-CN" b="1" dirty="0" err="1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crypt_linux_test.c</a:t>
            </a:r>
            <a:endParaRPr lang="en-US" altLang="zh-CN" b="1" dirty="0">
              <a:solidFill>
                <a:srgbClr val="2D3748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endParaRPr lang="en-US" altLang="zh-CN" dirty="0"/>
          </a:p>
          <a:p>
            <a:r>
              <a:rPr lang="zh-CN" altLang="en-US" dirty="0"/>
              <a:t>测试主函数</a:t>
            </a:r>
            <a:endParaRPr lang="en-US" altLang="zh-CN" dirty="0"/>
          </a:p>
        </p:txBody>
      </p:sp>
      <p:sp>
        <p:nvSpPr>
          <p:cNvPr id="15" name="Shape 12"/>
          <p:cNvSpPr/>
          <p:nvPr/>
        </p:nvSpPr>
        <p:spPr>
          <a:xfrm>
            <a:off x="8324088" y="1761490"/>
            <a:ext cx="164592" cy="164592"/>
          </a:xfrm>
          <a:prstGeom prst="ellipse">
            <a:avLst/>
          </a:prstGeom>
          <a:solidFill>
            <a:srgbClr val="2B7BC4"/>
          </a:solidFill>
          <a:ln w="12700">
            <a:solidFill>
              <a:srgbClr val="2B7B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75640" y="4118815"/>
            <a:ext cx="2971800" cy="161950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en-US" altLang="zh-CN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r>
              <a:rPr lang="en-US" altLang="zh-CN" b="1" dirty="0" err="1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timestamp.h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时间函数接口声明</a:t>
            </a:r>
          </a:p>
        </p:txBody>
      </p:sp>
      <p:sp>
        <p:nvSpPr>
          <p:cNvPr id="18" name="Shape 15"/>
          <p:cNvSpPr/>
          <p:nvPr/>
        </p:nvSpPr>
        <p:spPr>
          <a:xfrm>
            <a:off x="803656" y="4228544"/>
            <a:ext cx="164592" cy="164592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435856" y="4580673"/>
            <a:ext cx="2971800" cy="161950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en-US" altLang="zh-CN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r>
              <a:rPr lang="en-US" altLang="zh-CN" b="1" dirty="0" err="1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timestamp.c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纳秒级计时实现</a:t>
            </a:r>
          </a:p>
        </p:txBody>
      </p:sp>
      <p:sp>
        <p:nvSpPr>
          <p:cNvPr id="21" name="Shape 18"/>
          <p:cNvSpPr/>
          <p:nvPr/>
        </p:nvSpPr>
        <p:spPr>
          <a:xfrm>
            <a:off x="4563872" y="4690401"/>
            <a:ext cx="164592" cy="164592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196072" y="4118815"/>
            <a:ext cx="2971800" cy="161950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en-US" altLang="zh-CN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README.md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编译、运行和实验说明</a:t>
            </a:r>
          </a:p>
        </p:txBody>
      </p:sp>
      <p:sp>
        <p:nvSpPr>
          <p:cNvPr id="24" name="Shape 21"/>
          <p:cNvSpPr/>
          <p:nvPr/>
        </p:nvSpPr>
        <p:spPr>
          <a:xfrm>
            <a:off x="8324088" y="4228543"/>
            <a:ext cx="164592" cy="164592"/>
          </a:xfrm>
          <a:prstGeom prst="ellipse">
            <a:avLst/>
          </a:prstGeom>
          <a:solidFill>
            <a:srgbClr val="E07C24"/>
          </a:solidFill>
          <a:ln w="12700">
            <a:solidFill>
              <a:srgbClr val="E07C24"/>
            </a:solidFill>
            <a:prstDash val="solid"/>
          </a:ln>
        </p:spPr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2C749C9-F250-56F7-FFC7-8AD72F853521}"/>
              </a:ext>
            </a:extLst>
          </p:cNvPr>
          <p:cNvSpPr txBox="1"/>
          <p:nvPr/>
        </p:nvSpPr>
        <p:spPr>
          <a:xfrm>
            <a:off x="-6099" y="129016"/>
            <a:ext cx="6099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3. </a:t>
            </a:r>
            <a:r>
              <a:rPr lang="zh-CN" altLang="en-US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实验设计</a:t>
            </a:r>
            <a:endParaRPr lang="en-US" altLang="zh-CN" sz="3200" b="1" dirty="0">
              <a:solidFill>
                <a:srgbClr val="1A5F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20CBFF-BF05-AA52-9315-29D762957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CE6EDC9-D968-8B5B-1B5C-1D676D5D69F6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05EE44C-9099-154A-6238-14CBACF9DFE9}"/>
              </a:ext>
            </a:extLst>
          </p:cNvPr>
          <p:cNvSpPr/>
          <p:nvPr/>
        </p:nvSpPr>
        <p:spPr>
          <a:xfrm>
            <a:off x="5577840" y="6492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26</a:t>
            </a:r>
            <a:endParaRPr lang="en-US" sz="75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0E39760-CE32-B784-0A9B-06B0B8CD6CE9}"/>
              </a:ext>
            </a:extLst>
          </p:cNvPr>
          <p:cNvSpPr txBox="1"/>
          <p:nvPr/>
        </p:nvSpPr>
        <p:spPr>
          <a:xfrm>
            <a:off x="-6099" y="129016"/>
            <a:ext cx="6099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3. </a:t>
            </a:r>
            <a:r>
              <a:rPr lang="zh-CN" altLang="en-US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实验设计</a:t>
            </a:r>
            <a:endParaRPr lang="en-US" altLang="zh-CN" sz="3200" b="1" dirty="0">
              <a:solidFill>
                <a:srgbClr val="1A5F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478BA548-AE40-3A51-2EBC-72CBD5D9D9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454260"/>
              </p:ext>
            </p:extLst>
          </p:nvPr>
        </p:nvGraphicFramePr>
        <p:xfrm>
          <a:off x="325767" y="1381835"/>
          <a:ext cx="2549514" cy="2062329"/>
        </p:xfrm>
        <a:graphic>
          <a:graphicData uri="http://schemas.openxmlformats.org/drawingml/2006/table">
            <a:tbl>
              <a:tblPr/>
              <a:tblGrid>
                <a:gridCol w="2549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78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</a:rPr>
                        <a:t>算法</a:t>
                      </a:r>
                      <a:endParaRPr lang="en-US" sz="2400" dirty="0">
                        <a:latin typeface="Microsoft YaHei" charset="0"/>
                        <a:ea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334389"/>
                  </a:ext>
                </a:extLst>
              </a:tr>
              <a:tr h="6089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AES-256-GCM</a:t>
                      </a: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650812"/>
                  </a:ext>
                </a:extLst>
              </a:tr>
              <a:tr h="6089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</a:rPr>
                        <a:t>ChaCha20-Poly1305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03467D03-CD8B-B610-9358-B94982A76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941362"/>
              </p:ext>
            </p:extLst>
          </p:nvPr>
        </p:nvGraphicFramePr>
        <p:xfrm>
          <a:off x="3629887" y="1475146"/>
          <a:ext cx="2098233" cy="1875705"/>
        </p:xfrm>
        <a:graphic>
          <a:graphicData uri="http://schemas.openxmlformats.org/drawingml/2006/table">
            <a:tbl>
              <a:tblPr/>
              <a:tblGrid>
                <a:gridCol w="2098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78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</a:rPr>
                        <a:t>IO</a:t>
                      </a:r>
                      <a:r>
                        <a:rPr lang="zh-CN" altLang="en-US" sz="2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</a:rPr>
                        <a:t>模式</a:t>
                      </a:r>
                      <a:endParaRPr lang="en-US" sz="2400" dirty="0">
                        <a:latin typeface="Microsoft YaHei" charset="0"/>
                        <a:ea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334389"/>
                  </a:ext>
                </a:extLst>
              </a:tr>
              <a:tr h="6089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out-of-place</a:t>
                      </a: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650812"/>
                  </a:ext>
                </a:extLst>
              </a:tr>
              <a:tr h="608904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in-place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21AE9F22-D91C-5F06-1D97-18D2C430A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025156"/>
              </p:ext>
            </p:extLst>
          </p:nvPr>
        </p:nvGraphicFramePr>
        <p:xfrm>
          <a:off x="6482727" y="1406405"/>
          <a:ext cx="2098233" cy="2013336"/>
        </p:xfrm>
        <a:graphic>
          <a:graphicData uri="http://schemas.openxmlformats.org/drawingml/2006/table">
            <a:tbl>
              <a:tblPr/>
              <a:tblGrid>
                <a:gridCol w="2098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78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</a:rPr>
                        <a:t>上下文（</a:t>
                      </a:r>
                      <a:r>
                        <a:rPr lang="en-US" altLang="zh-CN" sz="2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</a:rPr>
                        <a:t>CTX</a:t>
                      </a:r>
                      <a:r>
                        <a:rPr lang="zh-CN" altLang="en-US" sz="2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</a:rPr>
                        <a:t>）复用</a:t>
                      </a:r>
                      <a:endParaRPr lang="en-US" sz="2400" dirty="0">
                        <a:latin typeface="Microsoft YaHei" charset="0"/>
                        <a:ea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334389"/>
                  </a:ext>
                </a:extLst>
              </a:tr>
              <a:tr h="6089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不复用</a:t>
                      </a:r>
                      <a:endParaRPr lang="en-US" altLang="zh-CN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650812"/>
                  </a:ext>
                </a:extLst>
              </a:tr>
              <a:tr h="608904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复用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FC10EA27-E184-8E9B-F0B3-4BFE5CF59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108980"/>
              </p:ext>
            </p:extLst>
          </p:nvPr>
        </p:nvGraphicFramePr>
        <p:xfrm>
          <a:off x="9335566" y="1170693"/>
          <a:ext cx="2098234" cy="2484609"/>
        </p:xfrm>
        <a:graphic>
          <a:graphicData uri="http://schemas.openxmlformats.org/drawingml/2006/table">
            <a:tbl>
              <a:tblPr/>
              <a:tblGrid>
                <a:gridCol w="2098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78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</a:rPr>
                        <a:t>编译优化</a:t>
                      </a:r>
                      <a:endParaRPr lang="en-US" sz="2400" dirty="0">
                        <a:latin typeface="Microsoft YaHei" charset="0"/>
                        <a:ea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334389"/>
                  </a:ext>
                </a:extLst>
              </a:tr>
              <a:tr h="6089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O0</a:t>
                      </a: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650812"/>
                  </a:ext>
                </a:extLst>
              </a:tr>
              <a:tr h="608904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O2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904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O3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7648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E43035A-FA9F-97F8-12F7-046D3D098725}"/>
                  </a:ext>
                </a:extLst>
              </p:cNvPr>
              <p:cNvSpPr txBox="1"/>
              <p:nvPr/>
            </p:nvSpPr>
            <p:spPr>
              <a:xfrm>
                <a:off x="3044227" y="2228331"/>
                <a:ext cx="3109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E43035A-FA9F-97F8-12F7-046D3D098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227" y="2228331"/>
                <a:ext cx="310983" cy="369332"/>
              </a:xfrm>
              <a:prstGeom prst="rect">
                <a:avLst/>
              </a:prstGeom>
              <a:blipFill>
                <a:blip r:embed="rId3"/>
                <a:stretch>
                  <a:fillRect l="-11765" r="-15686"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8BCFF54-8BD3-2C46-2CD1-89712288D66D}"/>
                  </a:ext>
                </a:extLst>
              </p:cNvPr>
              <p:cNvSpPr txBox="1"/>
              <p:nvPr/>
            </p:nvSpPr>
            <p:spPr>
              <a:xfrm>
                <a:off x="5925268" y="2228331"/>
                <a:ext cx="3109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8BCFF54-8BD3-2C46-2CD1-89712288D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5268" y="2228331"/>
                <a:ext cx="310983" cy="369332"/>
              </a:xfrm>
              <a:prstGeom prst="rect">
                <a:avLst/>
              </a:prstGeom>
              <a:blipFill>
                <a:blip r:embed="rId4"/>
                <a:stretch>
                  <a:fillRect l="-13725" r="-13725"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4C50D2C-B477-670F-D198-20D5648E7330}"/>
                  </a:ext>
                </a:extLst>
              </p:cNvPr>
              <p:cNvSpPr txBox="1"/>
              <p:nvPr/>
            </p:nvSpPr>
            <p:spPr>
              <a:xfrm>
                <a:off x="8802771" y="2228331"/>
                <a:ext cx="3109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4C50D2C-B477-670F-D198-20D5648E7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2771" y="2228331"/>
                <a:ext cx="310983" cy="369332"/>
              </a:xfrm>
              <a:prstGeom prst="rect">
                <a:avLst/>
              </a:prstGeom>
              <a:blipFill>
                <a:blip r:embed="rId5"/>
                <a:stretch>
                  <a:fillRect l="-11765" r="-15686"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155F8D9B-CAE1-4247-807B-F21FFAAD05AA}"/>
              </a:ext>
            </a:extLst>
          </p:cNvPr>
          <p:cNvSpPr txBox="1"/>
          <p:nvPr/>
        </p:nvSpPr>
        <p:spPr>
          <a:xfrm>
            <a:off x="573846" y="4368887"/>
            <a:ext cx="110395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out-of-place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是指明文和密文各占一块内存，互不影响</a:t>
            </a:r>
            <a:endParaRPr lang="en-US" altLang="zh-CN" sz="2400" dirty="0">
              <a:solidFill>
                <a:srgbClr val="2D3748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in-place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是指密文直接覆盖明文的同一块内存，省一半空间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上下文是否复用是指加密用的工作台是每次新建还是反复用</a:t>
            </a:r>
            <a:endParaRPr lang="en-US" altLang="zh-CN" sz="2400" dirty="0">
              <a:solidFill>
                <a:srgbClr val="2D3748"/>
              </a:solidFill>
              <a:latin typeface="Microsoft YaHei" pitchFamily="34" charset="0"/>
              <a:ea typeface="Microsoft YaHei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198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F61B27-E793-7C24-79B1-D375A0DFE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616351D-DBA9-6F8D-A898-71AAC285F1B1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9CFF286-7DFB-2A55-6EB4-C69C65D83152}"/>
              </a:ext>
            </a:extLst>
          </p:cNvPr>
          <p:cNvSpPr/>
          <p:nvPr/>
        </p:nvSpPr>
        <p:spPr>
          <a:xfrm>
            <a:off x="5577840" y="6492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26</a:t>
            </a:r>
            <a:endParaRPr lang="en-US" sz="75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0FEB5DF-E950-0BBE-1FB6-ABADD8C197BD}"/>
              </a:ext>
            </a:extLst>
          </p:cNvPr>
          <p:cNvSpPr txBox="1"/>
          <p:nvPr/>
        </p:nvSpPr>
        <p:spPr>
          <a:xfrm>
            <a:off x="-6099" y="129016"/>
            <a:ext cx="6099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3. </a:t>
            </a:r>
            <a:r>
              <a:rPr lang="zh-CN" altLang="en-US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实验设计</a:t>
            </a:r>
            <a:endParaRPr lang="en-US" altLang="zh-CN" sz="3200" b="1" dirty="0">
              <a:solidFill>
                <a:srgbClr val="1A5F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DB0F0714-CAC2-D237-01B6-A6CADC16A3E9}"/>
              </a:ext>
            </a:extLst>
          </p:cNvPr>
          <p:cNvSpPr/>
          <p:nvPr/>
        </p:nvSpPr>
        <p:spPr>
          <a:xfrm>
            <a:off x="1770556" y="1340930"/>
            <a:ext cx="1874520" cy="157683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zh-CN" altLang="en-US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分配内存</a:t>
            </a:r>
            <a:endParaRPr lang="en-US" altLang="zh-CN" b="1" dirty="0">
              <a:latin typeface="Microsoft YaHei" pitchFamily="34" charset="0"/>
              <a:ea typeface="Microsoft YaHei" pitchFamily="34" charset="-122"/>
            </a:endParaRPr>
          </a:p>
          <a:p>
            <a:r>
              <a:rPr lang="zh-CN" altLang="en-US" sz="1600" b="1" dirty="0">
                <a:latin typeface="Microsoft YaHei" pitchFamily="34" charset="0"/>
                <a:ea typeface="Microsoft YaHei" pitchFamily="34" charset="-122"/>
              </a:rPr>
              <a:t>根据宏决定</a:t>
            </a:r>
            <a:r>
              <a:rPr lang="en-US" altLang="zh-CN" sz="1600" b="1" dirty="0">
                <a:latin typeface="Microsoft YaHei" pitchFamily="34" charset="0"/>
                <a:ea typeface="Microsoft YaHei" pitchFamily="34" charset="-122"/>
              </a:rPr>
              <a:t>in-place/out-of-place</a:t>
            </a:r>
            <a:endParaRPr lang="en-US" altLang="zh-CN" sz="1600" b="1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8E32FA9-0AC0-F6AE-406D-CD31B8410895}"/>
              </a:ext>
            </a:extLst>
          </p:cNvPr>
          <p:cNvSpPr/>
          <p:nvPr/>
        </p:nvSpPr>
        <p:spPr>
          <a:xfrm>
            <a:off x="1770556" y="1340930"/>
            <a:ext cx="1874520" cy="7315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98BAE9EC-9461-DF77-AC52-70400C9902BE}"/>
              </a:ext>
            </a:extLst>
          </p:cNvPr>
          <p:cNvSpPr/>
          <p:nvPr/>
        </p:nvSpPr>
        <p:spPr>
          <a:xfrm>
            <a:off x="4099736" y="1340930"/>
            <a:ext cx="1874520" cy="157683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zh-CN" altLang="en-US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填充实验数据</a:t>
            </a:r>
            <a:endParaRPr lang="en-US" altLang="zh-CN" b="1" dirty="0">
              <a:solidFill>
                <a:srgbClr val="1A5F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1B53ADDD-861B-FEFB-A1F8-868473BFCE09}"/>
              </a:ext>
            </a:extLst>
          </p:cNvPr>
          <p:cNvSpPr/>
          <p:nvPr/>
        </p:nvSpPr>
        <p:spPr>
          <a:xfrm>
            <a:off x="4099736" y="1340930"/>
            <a:ext cx="1874520" cy="7315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37AB58B0-5F67-507B-D215-DBE2EDEDF3FB}"/>
              </a:ext>
            </a:extLst>
          </p:cNvPr>
          <p:cNvSpPr/>
          <p:nvPr/>
        </p:nvSpPr>
        <p:spPr>
          <a:xfrm>
            <a:off x="6457874" y="1340930"/>
            <a:ext cx="1874520" cy="157683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zh-CN" altLang="en-US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预热</a:t>
            </a:r>
            <a:r>
              <a:rPr lang="en-US" altLang="zh-CN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3</a:t>
            </a:r>
            <a:r>
              <a:rPr lang="zh-CN" altLang="en-US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次</a:t>
            </a:r>
            <a:endParaRPr lang="en-US" altLang="zh-CN" b="1" dirty="0">
              <a:solidFill>
                <a:srgbClr val="1A5F9E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zh-CN" altLang="en-US" sz="1600" b="1" dirty="0">
                <a:latin typeface="Microsoft YaHei" pitchFamily="34" charset="0"/>
                <a:ea typeface="Microsoft YaHei" pitchFamily="34" charset="-122"/>
              </a:rPr>
              <a:t>加密</a:t>
            </a:r>
            <a:endParaRPr lang="en-US" altLang="zh-CN" sz="1600" b="1" dirty="0">
              <a:latin typeface="Microsoft YaHei" pitchFamily="34" charset="0"/>
              <a:ea typeface="Microsoft YaHei" pitchFamily="34" charset="-122"/>
            </a:endParaRPr>
          </a:p>
          <a:p>
            <a:r>
              <a:rPr lang="zh-CN" altLang="en-US" sz="1600" b="1" dirty="0">
                <a:latin typeface="Microsoft YaHei" pitchFamily="34" charset="0"/>
                <a:ea typeface="Microsoft YaHei" pitchFamily="34" charset="-122"/>
              </a:rPr>
              <a:t>解密</a:t>
            </a:r>
            <a:endParaRPr lang="en-US" altLang="zh-CN" sz="1600" b="1" dirty="0">
              <a:latin typeface="Microsoft YaHei" pitchFamily="34" charset="0"/>
              <a:ea typeface="Microsoft YaHei" pitchFamily="34" charset="-122"/>
            </a:endParaRPr>
          </a:p>
          <a:p>
            <a:r>
              <a:rPr lang="en-US" altLang="zh-CN" sz="1600" b="1" dirty="0" err="1">
                <a:latin typeface="Microsoft YaHei" pitchFamily="34" charset="0"/>
                <a:ea typeface="Microsoft YaHei" pitchFamily="34" charset="-122"/>
              </a:rPr>
              <a:t>memcmp</a:t>
            </a:r>
            <a:r>
              <a:rPr lang="zh-CN" altLang="en-US" sz="1600" b="1" dirty="0">
                <a:latin typeface="Microsoft YaHei" pitchFamily="34" charset="0"/>
                <a:ea typeface="Microsoft YaHei" pitchFamily="34" charset="-122"/>
              </a:rPr>
              <a:t>验证</a:t>
            </a:r>
            <a:endParaRPr lang="en-US" altLang="zh-CN" sz="1600" b="1" dirty="0"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4A474D53-EA23-89B0-25BE-8B43F465FA59}"/>
              </a:ext>
            </a:extLst>
          </p:cNvPr>
          <p:cNvSpPr/>
          <p:nvPr/>
        </p:nvSpPr>
        <p:spPr>
          <a:xfrm>
            <a:off x="6457874" y="1340930"/>
            <a:ext cx="1874520" cy="7315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0B631916-BBBD-A927-F09A-D46F59DA10B0}"/>
              </a:ext>
            </a:extLst>
          </p:cNvPr>
          <p:cNvSpPr/>
          <p:nvPr/>
        </p:nvSpPr>
        <p:spPr>
          <a:xfrm>
            <a:off x="8778924" y="1340929"/>
            <a:ext cx="1874520" cy="157683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zh-CN" altLang="en-US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正式采样</a:t>
            </a:r>
            <a:r>
              <a:rPr lang="en-US" altLang="zh-CN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r>
              <a:rPr lang="zh-CN" altLang="en-US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</a:t>
            </a:r>
            <a:endParaRPr lang="en-US" altLang="zh-CN" b="1" dirty="0">
              <a:solidFill>
                <a:srgbClr val="38A169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zh-CN" altLang="en-US" sz="1600" b="1" dirty="0">
                <a:latin typeface="Microsoft YaHei" pitchFamily="34" charset="0"/>
                <a:ea typeface="Microsoft YaHei" pitchFamily="34" charset="-122"/>
              </a:rPr>
              <a:t>每次记录加密耗时、解密耗时、更新</a:t>
            </a:r>
            <a:r>
              <a:rPr lang="en-US" altLang="zh-CN" sz="1600" b="1" dirty="0">
                <a:latin typeface="Microsoft YaHei" pitchFamily="34" charset="0"/>
                <a:ea typeface="Microsoft YaHei" pitchFamily="34" charset="-122"/>
              </a:rPr>
              <a:t>sum</a:t>
            </a:r>
            <a:r>
              <a:rPr lang="zh-CN" altLang="en-US" sz="1600" b="1" dirty="0">
                <a:latin typeface="Microsoft YaHei" pitchFamily="34" charset="0"/>
                <a:ea typeface="Microsoft YaHei" pitchFamily="34" charset="-122"/>
              </a:rPr>
              <a:t>、</a:t>
            </a:r>
            <a:r>
              <a:rPr lang="en-US" altLang="zh-CN" sz="1600" b="1" dirty="0">
                <a:latin typeface="Microsoft YaHei" pitchFamily="34" charset="0"/>
                <a:ea typeface="Microsoft YaHei" pitchFamily="34" charset="-122"/>
              </a:rPr>
              <a:t>min</a:t>
            </a:r>
            <a:r>
              <a:rPr lang="zh-CN" altLang="en-US" sz="1600" b="1" dirty="0">
                <a:latin typeface="Microsoft YaHei" pitchFamily="34" charset="0"/>
                <a:ea typeface="Microsoft YaHei" pitchFamily="34" charset="-122"/>
              </a:rPr>
              <a:t>、</a:t>
            </a:r>
            <a:r>
              <a:rPr lang="en-US" altLang="zh-CN" sz="1600" b="1" dirty="0">
                <a:latin typeface="Microsoft YaHei" pitchFamily="34" charset="0"/>
                <a:ea typeface="Microsoft YaHei" pitchFamily="34" charset="-122"/>
              </a:rPr>
              <a:t>max</a:t>
            </a:r>
            <a:r>
              <a:rPr lang="zh-CN" altLang="en-US" sz="1600" b="1" dirty="0">
                <a:latin typeface="Microsoft YaHei" pitchFamily="34" charset="0"/>
                <a:ea typeface="Microsoft YaHei" pitchFamily="34" charset="-122"/>
              </a:rPr>
              <a:t>，进行</a:t>
            </a:r>
            <a:r>
              <a:rPr lang="en-US" altLang="zh-CN" sz="1600" b="1" dirty="0" err="1">
                <a:latin typeface="Microsoft YaHei" pitchFamily="34" charset="0"/>
                <a:ea typeface="Microsoft YaHei" pitchFamily="34" charset="-122"/>
              </a:rPr>
              <a:t>memcmp</a:t>
            </a:r>
            <a:r>
              <a:rPr lang="zh-CN" altLang="en-US" sz="1600" b="1" dirty="0">
                <a:latin typeface="Microsoft YaHei" pitchFamily="34" charset="0"/>
                <a:ea typeface="Microsoft YaHei" pitchFamily="34" charset="-122"/>
              </a:rPr>
              <a:t>验证</a:t>
            </a:r>
            <a:endParaRPr lang="zh-CN" altLang="en-US" sz="1600" dirty="0"/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E5588A78-927C-6D86-CDE5-1D35EB971556}"/>
              </a:ext>
            </a:extLst>
          </p:cNvPr>
          <p:cNvSpPr/>
          <p:nvPr/>
        </p:nvSpPr>
        <p:spPr>
          <a:xfrm>
            <a:off x="8778924" y="1340930"/>
            <a:ext cx="1874520" cy="7315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1E5571ED-BD9A-C1B7-812F-6CD5B9004C3D}"/>
              </a:ext>
            </a:extLst>
          </p:cNvPr>
          <p:cNvSpPr/>
          <p:nvPr/>
        </p:nvSpPr>
        <p:spPr>
          <a:xfrm>
            <a:off x="7667422" y="3843432"/>
            <a:ext cx="1874520" cy="157683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zh-CN" altLang="en-US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计算统计值</a:t>
            </a:r>
            <a:endParaRPr lang="en-US" altLang="zh-CN" b="1" dirty="0">
              <a:solidFill>
                <a:srgbClr val="38A169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r>
              <a:rPr lang="en-US" altLang="zh-CN" sz="1600" b="1" dirty="0">
                <a:latin typeface="Microsoft YaHei" pitchFamily="34" charset="0"/>
                <a:ea typeface="Microsoft YaHei" pitchFamily="34" charset="-122"/>
              </a:rPr>
              <a:t>avg = sum / 30</a:t>
            </a:r>
            <a:endParaRPr lang="zh-CN" altLang="en-US" sz="1600" b="1" dirty="0"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4EC408A4-240D-52E1-6837-1FA8EFF5E247}"/>
              </a:ext>
            </a:extLst>
          </p:cNvPr>
          <p:cNvSpPr/>
          <p:nvPr/>
        </p:nvSpPr>
        <p:spPr>
          <a:xfrm>
            <a:off x="7667422" y="3843432"/>
            <a:ext cx="1874520" cy="7315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0DE01A09-F238-9421-079E-64AEF47815B0}"/>
              </a:ext>
            </a:extLst>
          </p:cNvPr>
          <p:cNvSpPr/>
          <p:nvPr/>
        </p:nvSpPr>
        <p:spPr>
          <a:xfrm>
            <a:off x="5317413" y="3874918"/>
            <a:ext cx="1874520" cy="1553283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zh-CN" altLang="en-US" b="1" dirty="0">
                <a:solidFill>
                  <a:srgbClr val="E07C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打印</a:t>
            </a:r>
            <a:r>
              <a:rPr lang="en-US" altLang="zh-CN" b="1" dirty="0" err="1">
                <a:solidFill>
                  <a:srgbClr val="E07C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zh-CN" altLang="en-US" dirty="0"/>
          </a:p>
        </p:txBody>
      </p:sp>
      <p:sp>
        <p:nvSpPr>
          <p:cNvPr id="34" name="Shape 26">
            <a:extLst>
              <a:ext uri="{FF2B5EF4-FFF2-40B4-BE49-F238E27FC236}">
                <a16:creationId xmlns:a16="http://schemas.microsoft.com/office/drawing/2014/main" id="{896C8F78-B50F-58AE-3C31-D48A4A282AA3}"/>
              </a:ext>
            </a:extLst>
          </p:cNvPr>
          <p:cNvSpPr/>
          <p:nvPr/>
        </p:nvSpPr>
        <p:spPr>
          <a:xfrm>
            <a:off x="5317413" y="3851371"/>
            <a:ext cx="1874520" cy="73152"/>
          </a:xfrm>
          <a:prstGeom prst="rect">
            <a:avLst/>
          </a:prstGeom>
          <a:solidFill>
            <a:srgbClr val="E07C24"/>
          </a:solidFill>
          <a:ln w="12700">
            <a:solidFill>
              <a:srgbClr val="E07C24"/>
            </a:solidFill>
            <a:prstDash val="solid"/>
          </a:ln>
        </p:spPr>
      </p:sp>
      <p:sp>
        <p:nvSpPr>
          <p:cNvPr id="37" name="Shape 29">
            <a:extLst>
              <a:ext uri="{FF2B5EF4-FFF2-40B4-BE49-F238E27FC236}">
                <a16:creationId xmlns:a16="http://schemas.microsoft.com/office/drawing/2014/main" id="{FACAFD65-EB78-A457-1EF9-13B46B2A9643}"/>
              </a:ext>
            </a:extLst>
          </p:cNvPr>
          <p:cNvSpPr/>
          <p:nvPr/>
        </p:nvSpPr>
        <p:spPr>
          <a:xfrm>
            <a:off x="3645076" y="2109026"/>
            <a:ext cx="475488" cy="0"/>
          </a:xfrm>
          <a:prstGeom prst="line">
            <a:avLst/>
          </a:prstGeom>
          <a:noFill/>
          <a:ln w="16510">
            <a:solidFill>
              <a:srgbClr val="CBD5E0"/>
            </a:solidFill>
            <a:prstDash val="solid"/>
            <a:tailEnd type="triangle"/>
          </a:ln>
        </p:spPr>
      </p:sp>
      <p:sp>
        <p:nvSpPr>
          <p:cNvPr id="43" name="Shape 29">
            <a:extLst>
              <a:ext uri="{FF2B5EF4-FFF2-40B4-BE49-F238E27FC236}">
                <a16:creationId xmlns:a16="http://schemas.microsoft.com/office/drawing/2014/main" id="{361F1AD8-9821-BA44-1E41-C80CB4A80205}"/>
              </a:ext>
            </a:extLst>
          </p:cNvPr>
          <p:cNvSpPr/>
          <p:nvPr/>
        </p:nvSpPr>
        <p:spPr>
          <a:xfrm>
            <a:off x="5974256" y="2109026"/>
            <a:ext cx="475488" cy="0"/>
          </a:xfrm>
          <a:prstGeom prst="line">
            <a:avLst/>
          </a:prstGeom>
          <a:noFill/>
          <a:ln w="16510">
            <a:solidFill>
              <a:srgbClr val="CBD5E0"/>
            </a:solidFill>
            <a:prstDash val="solid"/>
            <a:tailEnd type="triangle"/>
          </a:ln>
        </p:spPr>
      </p:sp>
      <p:sp>
        <p:nvSpPr>
          <p:cNvPr id="44" name="Shape 29">
            <a:extLst>
              <a:ext uri="{FF2B5EF4-FFF2-40B4-BE49-F238E27FC236}">
                <a16:creationId xmlns:a16="http://schemas.microsoft.com/office/drawing/2014/main" id="{DE674E42-F967-B458-1B8F-16ACF03C2BD9}"/>
              </a:ext>
            </a:extLst>
          </p:cNvPr>
          <p:cNvSpPr/>
          <p:nvPr/>
        </p:nvSpPr>
        <p:spPr>
          <a:xfrm>
            <a:off x="8332394" y="2109026"/>
            <a:ext cx="475488" cy="0"/>
          </a:xfrm>
          <a:prstGeom prst="line">
            <a:avLst/>
          </a:prstGeom>
          <a:noFill/>
          <a:ln w="16510">
            <a:solidFill>
              <a:srgbClr val="CBD5E0"/>
            </a:solidFill>
            <a:prstDash val="solid"/>
            <a:tailEnd type="triangle"/>
          </a:ln>
        </p:spPr>
      </p:sp>
      <p:sp>
        <p:nvSpPr>
          <p:cNvPr id="45" name="Shape 25">
            <a:extLst>
              <a:ext uri="{FF2B5EF4-FFF2-40B4-BE49-F238E27FC236}">
                <a16:creationId xmlns:a16="http://schemas.microsoft.com/office/drawing/2014/main" id="{2E1E3F2A-A61F-4856-070F-9B5BDBB60C18}"/>
              </a:ext>
            </a:extLst>
          </p:cNvPr>
          <p:cNvSpPr/>
          <p:nvPr/>
        </p:nvSpPr>
        <p:spPr>
          <a:xfrm>
            <a:off x="2967402" y="3878604"/>
            <a:ext cx="1874520" cy="1553283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zh-CN" altLang="en-US" b="1" dirty="0">
                <a:solidFill>
                  <a:srgbClr val="E07C24"/>
                </a:solidFill>
                <a:latin typeface="Microsoft YaHei" pitchFamily="34" charset="0"/>
                <a:ea typeface="Microsoft YaHei" pitchFamily="34" charset="-122"/>
              </a:rPr>
              <a:t>释放所有内存</a:t>
            </a:r>
            <a:endParaRPr lang="zh-CN" altLang="en-US" dirty="0"/>
          </a:p>
        </p:txBody>
      </p:sp>
      <p:sp>
        <p:nvSpPr>
          <p:cNvPr id="46" name="Shape 26">
            <a:extLst>
              <a:ext uri="{FF2B5EF4-FFF2-40B4-BE49-F238E27FC236}">
                <a16:creationId xmlns:a16="http://schemas.microsoft.com/office/drawing/2014/main" id="{BB646CF3-DA9A-D8AA-53EF-509BF9FF5985}"/>
              </a:ext>
            </a:extLst>
          </p:cNvPr>
          <p:cNvSpPr/>
          <p:nvPr/>
        </p:nvSpPr>
        <p:spPr>
          <a:xfrm>
            <a:off x="2967402" y="3855057"/>
            <a:ext cx="1874520" cy="73152"/>
          </a:xfrm>
          <a:prstGeom prst="rect">
            <a:avLst/>
          </a:prstGeom>
          <a:solidFill>
            <a:srgbClr val="E07C24"/>
          </a:solidFill>
          <a:ln w="12700">
            <a:solidFill>
              <a:srgbClr val="E07C24"/>
            </a:solidFill>
            <a:prstDash val="solid"/>
          </a:ln>
        </p:spPr>
      </p:sp>
      <p:sp>
        <p:nvSpPr>
          <p:cNvPr id="47" name="Shape 29">
            <a:extLst>
              <a:ext uri="{FF2B5EF4-FFF2-40B4-BE49-F238E27FC236}">
                <a16:creationId xmlns:a16="http://schemas.microsoft.com/office/drawing/2014/main" id="{1E552856-D1C3-4381-7656-152C5A7F32A9}"/>
              </a:ext>
            </a:extLst>
          </p:cNvPr>
          <p:cNvSpPr/>
          <p:nvPr/>
        </p:nvSpPr>
        <p:spPr>
          <a:xfrm rot="10800000">
            <a:off x="7191934" y="4608386"/>
            <a:ext cx="475488" cy="0"/>
          </a:xfrm>
          <a:prstGeom prst="line">
            <a:avLst/>
          </a:prstGeom>
          <a:noFill/>
          <a:ln w="16510">
            <a:solidFill>
              <a:srgbClr val="CBD5E0"/>
            </a:solidFill>
            <a:prstDash val="solid"/>
            <a:tailEnd type="triangle"/>
          </a:ln>
        </p:spPr>
      </p:sp>
      <p:sp>
        <p:nvSpPr>
          <p:cNvPr id="48" name="Shape 29">
            <a:extLst>
              <a:ext uri="{FF2B5EF4-FFF2-40B4-BE49-F238E27FC236}">
                <a16:creationId xmlns:a16="http://schemas.microsoft.com/office/drawing/2014/main" id="{A49A446C-7856-D3E9-8EBA-83312C2F6CC2}"/>
              </a:ext>
            </a:extLst>
          </p:cNvPr>
          <p:cNvSpPr/>
          <p:nvPr/>
        </p:nvSpPr>
        <p:spPr>
          <a:xfrm rot="10800000">
            <a:off x="4841924" y="4614293"/>
            <a:ext cx="475488" cy="0"/>
          </a:xfrm>
          <a:prstGeom prst="line">
            <a:avLst/>
          </a:prstGeom>
          <a:noFill/>
          <a:ln w="16510">
            <a:solidFill>
              <a:srgbClr val="CBD5E0"/>
            </a:solidFill>
            <a:prstDash val="solid"/>
            <a:tailEnd type="triangle"/>
          </a:ln>
        </p:spPr>
      </p:sp>
      <p:sp>
        <p:nvSpPr>
          <p:cNvPr id="49" name="Shape 29">
            <a:extLst>
              <a:ext uri="{FF2B5EF4-FFF2-40B4-BE49-F238E27FC236}">
                <a16:creationId xmlns:a16="http://schemas.microsoft.com/office/drawing/2014/main" id="{A29BF084-6D89-F78F-54FA-D9BAE1390EFE}"/>
              </a:ext>
            </a:extLst>
          </p:cNvPr>
          <p:cNvSpPr/>
          <p:nvPr/>
        </p:nvSpPr>
        <p:spPr>
          <a:xfrm rot="8100000">
            <a:off x="8503303" y="3341039"/>
            <a:ext cx="1398587" cy="54058"/>
          </a:xfrm>
          <a:prstGeom prst="line">
            <a:avLst/>
          </a:prstGeom>
          <a:noFill/>
          <a:ln w="16510">
            <a:solidFill>
              <a:srgbClr val="CBD5E0"/>
            </a:solidFill>
            <a:prstDash val="solid"/>
            <a:tailEnd type="triangle"/>
          </a:ln>
        </p:spPr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24E83230-D19D-6AFF-EA5A-1EBD0C82CDBF}"/>
              </a:ext>
            </a:extLst>
          </p:cNvPr>
          <p:cNvSpPr/>
          <p:nvPr/>
        </p:nvSpPr>
        <p:spPr>
          <a:xfrm>
            <a:off x="536642" y="2226577"/>
            <a:ext cx="701863" cy="2405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程序流程图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1681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386845-FD79-2AFC-060F-1DF0F63D3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63C8B7-2499-D3C8-C186-EA99FFCDAAA4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3509207-9C12-E177-F13E-F83EF9BE17E1}"/>
              </a:ext>
            </a:extLst>
          </p:cNvPr>
          <p:cNvSpPr/>
          <p:nvPr/>
        </p:nvSpPr>
        <p:spPr>
          <a:xfrm>
            <a:off x="-566928" y="-512064"/>
            <a:ext cx="1572768" cy="1572768"/>
          </a:xfrm>
          <a:prstGeom prst="ellipse">
            <a:avLst/>
          </a:prstGeom>
          <a:solidFill>
            <a:srgbClr val="1A5F9E">
              <a:alpha val="8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142372F-D902-A273-F1C0-97FCD977E61F}"/>
              </a:ext>
            </a:extLst>
          </p:cNvPr>
          <p:cNvSpPr/>
          <p:nvPr/>
        </p:nvSpPr>
        <p:spPr>
          <a:xfrm>
            <a:off x="164592" y="18288"/>
            <a:ext cx="566928" cy="566928"/>
          </a:xfrm>
          <a:prstGeom prst="ellipse">
            <a:avLst/>
          </a:prstGeom>
          <a:solidFill>
            <a:srgbClr val="1A5F9E">
              <a:alpha val="12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EFB9261-2F82-0A8F-D7A1-3832031123C1}"/>
              </a:ext>
            </a:extLst>
          </p:cNvPr>
          <p:cNvSpPr/>
          <p:nvPr/>
        </p:nvSpPr>
        <p:spPr>
          <a:xfrm>
            <a:off x="10652760" y="5989320"/>
            <a:ext cx="1645920" cy="1645920"/>
          </a:xfrm>
          <a:prstGeom prst="ellipse">
            <a:avLst/>
          </a:prstGeom>
          <a:solidFill>
            <a:srgbClr val="1A5F9E">
              <a:alpha val="8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DF825F5-834E-F7E7-C362-3B0D060BDB10}"/>
              </a:ext>
            </a:extLst>
          </p:cNvPr>
          <p:cNvSpPr/>
          <p:nvPr/>
        </p:nvSpPr>
        <p:spPr>
          <a:xfrm>
            <a:off x="10927080" y="6272784"/>
            <a:ext cx="685800" cy="685800"/>
          </a:xfrm>
          <a:prstGeom prst="ellipse">
            <a:avLst/>
          </a:prstGeom>
          <a:solidFill>
            <a:srgbClr val="1A5F9E">
              <a:alpha val="12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A260586-C5AD-83E3-318D-EAD76B057BD7}"/>
              </a:ext>
            </a:extLst>
          </p:cNvPr>
          <p:cNvSpPr/>
          <p:nvPr/>
        </p:nvSpPr>
        <p:spPr>
          <a:xfrm>
            <a:off x="1432407" y="320954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40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4. </a:t>
            </a:r>
            <a:r>
              <a:rPr lang="zh-CN" altLang="en-US" sz="40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实验结果与分析</a:t>
            </a:r>
            <a:endParaRPr lang="en-US" altLang="zh-CN" sz="4000" b="1" dirty="0">
              <a:solidFill>
                <a:srgbClr val="1A5F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F816A30-385C-8C0E-8575-D0B9D3329BAB}"/>
              </a:ext>
            </a:extLst>
          </p:cNvPr>
          <p:cNvSpPr/>
          <p:nvPr/>
        </p:nvSpPr>
        <p:spPr>
          <a:xfrm>
            <a:off x="5577840" y="6492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26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362123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5E2294-2C0D-26E8-5135-D77CA426D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79F2B7-B563-1707-78F7-16C7BBEB9FBC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13027D9-0724-6235-EA6A-B4D7DA930022}"/>
              </a:ext>
            </a:extLst>
          </p:cNvPr>
          <p:cNvSpPr/>
          <p:nvPr/>
        </p:nvSpPr>
        <p:spPr>
          <a:xfrm>
            <a:off x="5577840" y="6492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26</a:t>
            </a:r>
            <a:endParaRPr lang="en-US" sz="75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8368189-3DDA-736B-BE8E-7DA5B9AD5F8B}"/>
              </a:ext>
            </a:extLst>
          </p:cNvPr>
          <p:cNvSpPr txBox="1"/>
          <p:nvPr/>
        </p:nvSpPr>
        <p:spPr>
          <a:xfrm>
            <a:off x="-6099" y="129016"/>
            <a:ext cx="6099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4. </a:t>
            </a:r>
            <a:r>
              <a:rPr lang="zh-CN" altLang="en-US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实验结果与分析</a:t>
            </a:r>
            <a:endParaRPr lang="en-US" altLang="zh-CN" sz="3200" b="1" dirty="0">
              <a:solidFill>
                <a:srgbClr val="1A5F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086F55D6-A257-9664-B29C-4D779CFF4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906174"/>
              </p:ext>
            </p:extLst>
          </p:nvPr>
        </p:nvGraphicFramePr>
        <p:xfrm>
          <a:off x="573846" y="1389117"/>
          <a:ext cx="11039541" cy="3015837"/>
        </p:xfrm>
        <a:graphic>
          <a:graphicData uri="http://schemas.openxmlformats.org/drawingml/2006/table">
            <a:tbl>
              <a:tblPr/>
              <a:tblGrid>
                <a:gridCol w="5713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6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2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重要指标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说明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1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2400" kern="1200" dirty="0" err="1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avg_ms</a:t>
                      </a:r>
                      <a:endParaRPr lang="en-US" altLang="zh-CN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+mn-cs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30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次采样的平均耗时（毫秒），核心对比指标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238655"/>
                  </a:ext>
                </a:extLst>
              </a:tr>
              <a:tr h="851876">
                <a:tc>
                  <a:txBody>
                    <a:bodyPr/>
                    <a:lstStyle/>
                    <a:p>
                      <a:pPr algn="ctr" latinLnBrk="1"/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加速比</a:t>
                      </a:r>
                      <a:endParaRPr lang="en-US" altLang="zh-CN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+mn-cs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优化前耗时</a:t>
                      </a:r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/</a:t>
                      </a: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优化后耗时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442735"/>
                  </a:ext>
                </a:extLst>
              </a:tr>
              <a:tr h="851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+mn-cs"/>
                        </a:rPr>
                        <a:t>horizon</a:t>
                      </a: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zh-CN" altLang="en-US" sz="2400" kern="12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数据规模大小</a:t>
                      </a:r>
                      <a:endParaRPr lang="en-US" sz="2400" kern="1200" dirty="0">
                        <a:solidFill>
                          <a:srgbClr val="2D3748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marL="32004" marR="32004" marT="32004" marB="32004" anchor="ctr">
                    <a:lnL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61F17EDB-616B-2874-5091-8B8798C99488}"/>
              </a:ext>
            </a:extLst>
          </p:cNvPr>
          <p:cNvSpPr txBox="1"/>
          <p:nvPr/>
        </p:nvSpPr>
        <p:spPr>
          <a:xfrm>
            <a:off x="573846" y="4910952"/>
            <a:ext cx="110395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24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种编译配置</a:t>
            </a:r>
            <a:r>
              <a:rPr lang="en-US" altLang="zh-CN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×8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种数据规模</a:t>
            </a:r>
            <a:endParaRPr lang="en-US" altLang="zh-CN" sz="2400" dirty="0">
              <a:solidFill>
                <a:srgbClr val="2D3748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每组数据包含加密和解密各</a:t>
            </a:r>
            <a:r>
              <a:rPr lang="en-US" altLang="zh-CN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30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次采样的</a:t>
            </a:r>
            <a:r>
              <a:rPr lang="en-US" altLang="zh-CN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avg/min/max</a:t>
            </a:r>
            <a:endParaRPr lang="zh-CN" altLang="en-US" sz="2400" dirty="0">
              <a:solidFill>
                <a:srgbClr val="2D3748"/>
              </a:solidFill>
              <a:latin typeface="Microsoft YaHei" pitchFamily="34" charset="0"/>
              <a:ea typeface="Microsoft YaHei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004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0" y="6492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26</a:t>
            </a:r>
            <a:endParaRPr lang="en-US" sz="75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246A86B-87F9-D94D-2C08-C8ED4B3246DF}"/>
              </a:ext>
            </a:extLst>
          </p:cNvPr>
          <p:cNvSpPr txBox="1"/>
          <p:nvPr/>
        </p:nvSpPr>
        <p:spPr>
          <a:xfrm>
            <a:off x="-6099" y="129016"/>
            <a:ext cx="6099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4. </a:t>
            </a:r>
            <a:r>
              <a:rPr lang="zh-CN" altLang="en-US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实验结果与分析</a:t>
            </a:r>
            <a:endParaRPr lang="en-US" altLang="zh-CN" sz="3200" b="1" dirty="0">
              <a:solidFill>
                <a:srgbClr val="1A5F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graphicFrame>
        <p:nvGraphicFramePr>
          <p:cNvPr id="32" name="图表 31">
            <a:extLst>
              <a:ext uri="{FF2B5EF4-FFF2-40B4-BE49-F238E27FC236}">
                <a16:creationId xmlns:a16="http://schemas.microsoft.com/office/drawing/2014/main" id="{036970AF-3792-FBD4-A00A-F5BEDEEA64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5356219"/>
              </p:ext>
            </p:extLst>
          </p:nvPr>
        </p:nvGraphicFramePr>
        <p:xfrm>
          <a:off x="0" y="713791"/>
          <a:ext cx="12192000" cy="5538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50CA9F-1B35-585E-E1AB-2D25A14E3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A10BBDB-7FB5-4184-3262-62BEE5D99CA7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D5B4A22-CB4C-23A0-8825-496DCC0D979B}"/>
              </a:ext>
            </a:extLst>
          </p:cNvPr>
          <p:cNvSpPr/>
          <p:nvPr/>
        </p:nvSpPr>
        <p:spPr>
          <a:xfrm>
            <a:off x="5577840" y="6492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26</a:t>
            </a:r>
            <a:endParaRPr lang="en-US" sz="75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7048977-9C60-4824-BDEA-9D85213249BD}"/>
              </a:ext>
            </a:extLst>
          </p:cNvPr>
          <p:cNvSpPr txBox="1"/>
          <p:nvPr/>
        </p:nvSpPr>
        <p:spPr>
          <a:xfrm>
            <a:off x="-6099" y="129016"/>
            <a:ext cx="6099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4. </a:t>
            </a:r>
            <a:r>
              <a:rPr lang="zh-CN" altLang="en-US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实验结果与分析</a:t>
            </a:r>
            <a:endParaRPr lang="en-US" altLang="zh-CN" sz="3200" b="1" dirty="0">
              <a:solidFill>
                <a:srgbClr val="1A5F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01072163-DC7F-19C4-2742-07EBA6EF04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383912"/>
              </p:ext>
            </p:extLst>
          </p:nvPr>
        </p:nvGraphicFramePr>
        <p:xfrm>
          <a:off x="1" y="719666"/>
          <a:ext cx="12191694" cy="57725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62648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082D16-5DDD-5DA1-72C2-926C18F5D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E6DFC93-5491-F8C1-7ADB-0D72BE47041E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8C17C54-2D16-BA7E-30E3-A1183E892E6E}"/>
              </a:ext>
            </a:extLst>
          </p:cNvPr>
          <p:cNvSpPr/>
          <p:nvPr/>
        </p:nvSpPr>
        <p:spPr>
          <a:xfrm>
            <a:off x="5577840" y="6492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26</a:t>
            </a:r>
            <a:endParaRPr lang="en-US" sz="75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1ABB693-68B1-1173-31C1-A0E273A3558B}"/>
              </a:ext>
            </a:extLst>
          </p:cNvPr>
          <p:cNvSpPr txBox="1"/>
          <p:nvPr/>
        </p:nvSpPr>
        <p:spPr>
          <a:xfrm>
            <a:off x="-6099" y="129016"/>
            <a:ext cx="6099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4. </a:t>
            </a:r>
            <a:r>
              <a:rPr lang="zh-CN" altLang="en-US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实验结果与分析</a:t>
            </a:r>
            <a:endParaRPr lang="en-US" altLang="zh-CN" sz="3200" b="1" dirty="0">
              <a:solidFill>
                <a:srgbClr val="1A5F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94DCA002-ABC1-6B54-37EA-5662981AD9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508502"/>
              </p:ext>
            </p:extLst>
          </p:nvPr>
        </p:nvGraphicFramePr>
        <p:xfrm>
          <a:off x="1" y="719666"/>
          <a:ext cx="12191694" cy="57725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39057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02E61B-A74E-84B0-D4F5-A2DDBA199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DE4E8A9-034C-51E0-2184-5FD7953FA214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595CC9B-AF31-C6A3-4CA2-7BA44DA0D091}"/>
              </a:ext>
            </a:extLst>
          </p:cNvPr>
          <p:cNvSpPr/>
          <p:nvPr/>
        </p:nvSpPr>
        <p:spPr>
          <a:xfrm>
            <a:off x="5577840" y="6492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26</a:t>
            </a:r>
            <a:endParaRPr lang="en-US" sz="75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E75BB0E-C478-1D3A-84FE-54EB29894ADD}"/>
              </a:ext>
            </a:extLst>
          </p:cNvPr>
          <p:cNvSpPr txBox="1"/>
          <p:nvPr/>
        </p:nvSpPr>
        <p:spPr>
          <a:xfrm>
            <a:off x="-6099" y="129016"/>
            <a:ext cx="6099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4. </a:t>
            </a:r>
            <a:r>
              <a:rPr lang="zh-CN" altLang="en-US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实验结果与分析</a:t>
            </a:r>
            <a:endParaRPr lang="en-US" altLang="zh-CN" sz="3200" b="1" dirty="0">
              <a:solidFill>
                <a:srgbClr val="1A5F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A38A067E-CB49-A8D8-3924-8028907CF7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9086826"/>
              </p:ext>
            </p:extLst>
          </p:nvPr>
        </p:nvGraphicFramePr>
        <p:xfrm>
          <a:off x="0" y="719666"/>
          <a:ext cx="12191694" cy="56317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06992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1894C7-9153-02A0-B527-382FDECCE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1BA5C90-5E64-EC62-D4DF-E5FF1AB6AABF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F7900F9-C268-E8C7-329E-29C008C71130}"/>
              </a:ext>
            </a:extLst>
          </p:cNvPr>
          <p:cNvSpPr/>
          <p:nvPr/>
        </p:nvSpPr>
        <p:spPr>
          <a:xfrm>
            <a:off x="5577840" y="6492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26</a:t>
            </a:r>
            <a:endParaRPr lang="en-US" sz="75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F5FEF5A-DA4F-5D84-C4A8-8980EE411C6E}"/>
              </a:ext>
            </a:extLst>
          </p:cNvPr>
          <p:cNvSpPr txBox="1"/>
          <p:nvPr/>
        </p:nvSpPr>
        <p:spPr>
          <a:xfrm>
            <a:off x="-6099" y="129016"/>
            <a:ext cx="6099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4. </a:t>
            </a:r>
            <a:r>
              <a:rPr lang="zh-CN" altLang="en-US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实验结果与分析</a:t>
            </a:r>
            <a:endParaRPr lang="en-US" altLang="zh-CN" sz="3200" b="1" dirty="0">
              <a:solidFill>
                <a:srgbClr val="1A5F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D571440F-966D-1CE5-48DB-52EDB19076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5123356"/>
              </p:ext>
            </p:extLst>
          </p:nvPr>
        </p:nvGraphicFramePr>
        <p:xfrm>
          <a:off x="-6099" y="719666"/>
          <a:ext cx="12191695" cy="56317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42679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5D3491-668B-B3B3-7EF1-9C9CEE5C0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10515E8-3D3C-7EEC-CD4B-8089D9BCCF31}"/>
              </a:ext>
            </a:extLst>
          </p:cNvPr>
          <p:cNvSpPr txBox="1"/>
          <p:nvPr/>
        </p:nvSpPr>
        <p:spPr>
          <a:xfrm>
            <a:off x="425565" y="839189"/>
            <a:ext cx="1103954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在图</a:t>
            </a:r>
            <a:r>
              <a:rPr lang="zh-CN" altLang="zh-CN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算法对比（</a:t>
            </a:r>
            <a:r>
              <a:rPr lang="en-US" altLang="zh-CN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1MB</a:t>
            </a:r>
            <a:r>
              <a:rPr lang="zh-CN" altLang="zh-CN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加密性能，</a:t>
            </a:r>
            <a:r>
              <a:rPr lang="en-US" altLang="zh-CN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O3</a:t>
            </a:r>
            <a:r>
              <a:rPr lang="zh-CN" altLang="zh-CN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优化）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中，</a:t>
            </a:r>
            <a:r>
              <a:rPr lang="en-US" altLang="zh-CN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AES-256-GCM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在所有配置下均比</a:t>
            </a:r>
            <a:r>
              <a:rPr lang="en-US" altLang="zh-CN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ChaCha20-Poly1305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快</a:t>
            </a:r>
            <a:r>
              <a:rPr lang="en-US" altLang="zh-CN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2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倍以上，因为前者支持硬件加速，而后者没有</a:t>
            </a:r>
            <a:endParaRPr lang="en-US" altLang="zh-CN" sz="2400" dirty="0">
              <a:solidFill>
                <a:srgbClr val="2D3748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2D3748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在图</a:t>
            </a:r>
            <a:r>
              <a:rPr lang="zh-CN" altLang="zh-CN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不同数据规模下的</a:t>
            </a:r>
            <a:r>
              <a:rPr lang="zh-CN" altLang="en-US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不同算法的</a:t>
            </a:r>
            <a:r>
              <a:rPr lang="zh-CN" altLang="zh-CN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性能对比（</a:t>
            </a:r>
            <a:r>
              <a:rPr lang="en-US" altLang="zh-CN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O3</a:t>
            </a:r>
            <a:r>
              <a:rPr lang="zh-CN" altLang="zh-CN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优化，</a:t>
            </a:r>
            <a:r>
              <a:rPr lang="en-US" altLang="zh-CN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out-of-place</a:t>
            </a:r>
            <a:r>
              <a:rPr lang="zh-CN" altLang="zh-CN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）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中，加速比随数据量增大而趋于稳定，小数据时差距小，因为函数调用开销占比较高</a:t>
            </a:r>
            <a:endParaRPr lang="en-US" altLang="zh-CN" sz="2400" dirty="0">
              <a:solidFill>
                <a:srgbClr val="2D3748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2D3748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在图</a:t>
            </a:r>
            <a:r>
              <a:rPr lang="en-US" altLang="zh-CN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AES-256-GCM</a:t>
            </a:r>
            <a:r>
              <a:rPr lang="zh-CN" altLang="en-US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算法在</a:t>
            </a:r>
            <a:r>
              <a:rPr lang="zh-CN" altLang="zh-CN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不同数据规模下的</a:t>
            </a:r>
            <a:r>
              <a:rPr lang="zh-CN" altLang="en-US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效果</a:t>
            </a:r>
            <a:r>
              <a:rPr lang="zh-CN" altLang="zh-CN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（</a:t>
            </a:r>
            <a:r>
              <a:rPr lang="en-US" altLang="zh-CN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O3</a:t>
            </a:r>
            <a:r>
              <a:rPr lang="zh-CN" altLang="zh-CN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优化）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中，当数据规模较小时，数据全在</a:t>
            </a:r>
            <a:r>
              <a:rPr lang="en-US" altLang="zh-CN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L1cache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中，能够轻松容纳，无差别，而当数据规模较大的时候，超出了</a:t>
            </a:r>
            <a:r>
              <a:rPr lang="en-US" altLang="zh-CN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L2cache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，</a:t>
            </a:r>
            <a:r>
              <a:rPr lang="en-US" altLang="zh-CN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in-place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能够显著改善内存宽带利用率</a:t>
            </a:r>
            <a:endParaRPr lang="en-US" altLang="zh-CN" sz="2400" dirty="0">
              <a:solidFill>
                <a:srgbClr val="2D3748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2D3748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在图</a:t>
            </a:r>
            <a:r>
              <a:rPr lang="zh-CN" altLang="en-US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编译优化效果（</a:t>
            </a:r>
            <a:r>
              <a:rPr lang="en-US" altLang="zh-CN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AES-256-GCM</a:t>
            </a:r>
            <a:r>
              <a:rPr lang="zh-CN" altLang="en-US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算法）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中，编译优化收益很小，因为在</a:t>
            </a:r>
            <a:r>
              <a:rPr lang="en-US" altLang="zh-CN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OpenSSL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库内部，已经优化过了，外层的</a:t>
            </a:r>
            <a:r>
              <a:rPr lang="en-US" altLang="zh-CN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C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代码占比极低，优化空间几乎为零</a:t>
            </a:r>
            <a:endParaRPr lang="en-US" altLang="zh-CN" sz="2400" dirty="0">
              <a:solidFill>
                <a:srgbClr val="2D3748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2D3748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在图</a:t>
            </a:r>
            <a:r>
              <a:rPr lang="zh-CN" altLang="en-US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上下文复用效果（</a:t>
            </a:r>
            <a:r>
              <a:rPr lang="en-US" altLang="zh-CN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AES-256-GCM</a:t>
            </a:r>
            <a:r>
              <a:rPr lang="zh-CN" altLang="en-US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算法，</a:t>
            </a:r>
            <a:r>
              <a:rPr lang="en-US" altLang="zh-CN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O3</a:t>
            </a:r>
            <a:r>
              <a:rPr lang="zh-CN" altLang="en-US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优化，</a:t>
            </a:r>
            <a:r>
              <a:rPr lang="en-US" altLang="zh-CN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1MB</a:t>
            </a:r>
            <a:r>
              <a:rPr lang="zh-CN" altLang="en-US" sz="2400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）</a:t>
            </a:r>
            <a:r>
              <a:rPr lang="zh-CN" altLang="en-US" sz="2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中，上下文复用无稳定的收益，因为这部分的开销相较于加密计算本身可以忽略不计</a:t>
            </a:r>
            <a:endParaRPr lang="zh-CN" altLang="zh-CN" sz="2400" dirty="0">
              <a:solidFill>
                <a:srgbClr val="2D3748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zh-CN" sz="2400" dirty="0">
              <a:solidFill>
                <a:srgbClr val="2D3748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BB0BA29-919C-C94D-EAA0-E74C463AD8C3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C6E73E1-3B4F-8BD9-CEAD-3FF37CB0D2EB}"/>
              </a:ext>
            </a:extLst>
          </p:cNvPr>
          <p:cNvSpPr/>
          <p:nvPr/>
        </p:nvSpPr>
        <p:spPr>
          <a:xfrm>
            <a:off x="5577840" y="6492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26</a:t>
            </a:r>
            <a:endParaRPr lang="en-US" sz="75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FA100B6-7F57-7BE5-C578-748439FE589F}"/>
              </a:ext>
            </a:extLst>
          </p:cNvPr>
          <p:cNvSpPr txBox="1"/>
          <p:nvPr/>
        </p:nvSpPr>
        <p:spPr>
          <a:xfrm>
            <a:off x="-6099" y="129016"/>
            <a:ext cx="6099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4. </a:t>
            </a:r>
            <a:r>
              <a:rPr lang="zh-CN" altLang="en-US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实验结果与分析</a:t>
            </a:r>
            <a:endParaRPr lang="en-US" altLang="zh-CN" sz="3200" b="1" dirty="0">
              <a:solidFill>
                <a:srgbClr val="1A5F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0618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47212B-EE9D-B79C-B862-F218C278C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5935971-10BD-1570-F3AF-86A49E040425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EAF575E-941D-8B66-A64E-9866E36A7C00}"/>
              </a:ext>
            </a:extLst>
          </p:cNvPr>
          <p:cNvSpPr/>
          <p:nvPr/>
        </p:nvSpPr>
        <p:spPr>
          <a:xfrm>
            <a:off x="867445" y="2262926"/>
            <a:ext cx="701863" cy="13946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36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结论</a:t>
            </a:r>
            <a:endParaRPr lang="en-US" sz="3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A982F80-7968-9A6D-4C7E-C9F89FAFA620}"/>
              </a:ext>
            </a:extLst>
          </p:cNvPr>
          <p:cNvSpPr/>
          <p:nvPr/>
        </p:nvSpPr>
        <p:spPr>
          <a:xfrm>
            <a:off x="5577840" y="6492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26</a:t>
            </a:r>
            <a:endParaRPr lang="en-US" sz="7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22FD6E2-DB99-5957-42B1-35A1DC8062C8}"/>
              </a:ext>
            </a:extLst>
          </p:cNvPr>
          <p:cNvSpPr/>
          <p:nvPr/>
        </p:nvSpPr>
        <p:spPr>
          <a:xfrm>
            <a:off x="2174488" y="1193075"/>
            <a:ext cx="8818384" cy="680726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 anchor="ctr"/>
          <a:lstStyle/>
          <a:p>
            <a:r>
              <a:rPr lang="en-US" altLang="zh-CN" sz="24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1. </a:t>
            </a:r>
            <a:r>
              <a:rPr lang="zh-CN" altLang="en-US" sz="24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算法选择是首要的优化因素</a:t>
            </a:r>
            <a:endParaRPr lang="en-US" altLang="zh-CN" sz="24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AC5D8FC-9021-97BA-1157-2DB4271FAEA4}"/>
              </a:ext>
            </a:extLst>
          </p:cNvPr>
          <p:cNvSpPr/>
          <p:nvPr/>
        </p:nvSpPr>
        <p:spPr>
          <a:xfrm>
            <a:off x="2174488" y="2130460"/>
            <a:ext cx="8818384" cy="680726"/>
          </a:xfrm>
          <a:prstGeom prst="roundRect">
            <a:avLst>
              <a:gd name="adj" fmla="val 14583"/>
            </a:avLst>
          </a:prstGeom>
          <a:solidFill>
            <a:srgbClr val="EAF4FC"/>
          </a:solidFill>
          <a:ln w="10160">
            <a:solidFill>
              <a:srgbClr val="E2E8F0"/>
            </a:solidFill>
            <a:prstDash val="solid"/>
          </a:ln>
        </p:spPr>
        <p:txBody>
          <a:bodyPr anchor="ctr"/>
          <a:lstStyle/>
          <a:p>
            <a:r>
              <a:rPr lang="en-US" altLang="zh-CN" sz="24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2. </a:t>
            </a:r>
            <a:r>
              <a:rPr lang="en-US" altLang="zh-CN" sz="24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in-place</a:t>
            </a:r>
            <a:r>
              <a:rPr lang="zh-CN" altLang="en-US" sz="24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在数据规模较大时有效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25246F1-7534-80C3-F2C6-B1627EDFB92E}"/>
              </a:ext>
            </a:extLst>
          </p:cNvPr>
          <p:cNvSpPr/>
          <p:nvPr/>
        </p:nvSpPr>
        <p:spPr>
          <a:xfrm>
            <a:off x="2174488" y="3067846"/>
            <a:ext cx="8818384" cy="680726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 anchor="ctr"/>
          <a:lstStyle/>
          <a:p>
            <a:r>
              <a:rPr lang="en-US" altLang="zh-CN" sz="24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3. </a:t>
            </a:r>
            <a:r>
              <a:rPr lang="zh-CN" altLang="en-US" sz="24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编译优化对外层</a:t>
            </a:r>
            <a:r>
              <a:rPr lang="en-US" altLang="zh-CN" sz="24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C</a:t>
            </a:r>
            <a:r>
              <a:rPr lang="zh-CN" altLang="en-US" sz="24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代码有一定作用，但是整体的收益有限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5C37606-B80C-611B-6A5A-346AAE0B7F38}"/>
              </a:ext>
            </a:extLst>
          </p:cNvPr>
          <p:cNvSpPr/>
          <p:nvPr/>
        </p:nvSpPr>
        <p:spPr>
          <a:xfrm>
            <a:off x="2174488" y="4005232"/>
            <a:ext cx="8818384" cy="680726"/>
          </a:xfrm>
          <a:prstGeom prst="roundRect">
            <a:avLst>
              <a:gd name="adj" fmla="val 14583"/>
            </a:avLst>
          </a:prstGeom>
          <a:solidFill>
            <a:srgbClr val="EAF4FC"/>
          </a:solidFill>
          <a:ln w="10160">
            <a:solidFill>
              <a:srgbClr val="E2E8F0"/>
            </a:solidFill>
            <a:prstDash val="solid"/>
          </a:ln>
        </p:spPr>
        <p:txBody>
          <a:bodyPr anchor="ctr"/>
          <a:lstStyle/>
          <a:p>
            <a:r>
              <a:rPr lang="en-US" altLang="zh-CN" sz="24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4. </a:t>
            </a:r>
            <a:r>
              <a:rPr lang="zh-CN" altLang="en-US" sz="24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</a:rPr>
              <a:t>上下文复用无稳定的收益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544303E-C3B0-382F-0D33-718C0A5D4374}"/>
              </a:ext>
            </a:extLst>
          </p:cNvPr>
          <p:cNvSpPr txBox="1"/>
          <p:nvPr/>
        </p:nvSpPr>
        <p:spPr>
          <a:xfrm>
            <a:off x="-6099" y="129016"/>
            <a:ext cx="6099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4. </a:t>
            </a:r>
            <a:r>
              <a:rPr lang="zh-CN" altLang="en-US" sz="32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实验结果与分析</a:t>
            </a:r>
            <a:endParaRPr lang="en-US" altLang="zh-CN" sz="3200" b="1" dirty="0">
              <a:solidFill>
                <a:srgbClr val="1A5F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1" name="Shape 20">
            <a:extLst>
              <a:ext uri="{FF2B5EF4-FFF2-40B4-BE49-F238E27FC236}">
                <a16:creationId xmlns:a16="http://schemas.microsoft.com/office/drawing/2014/main" id="{22DA2AF4-75C7-91E8-25D3-6BE640573CC6}"/>
              </a:ext>
            </a:extLst>
          </p:cNvPr>
          <p:cNvSpPr/>
          <p:nvPr/>
        </p:nvSpPr>
        <p:spPr>
          <a:xfrm>
            <a:off x="157672" y="5483594"/>
            <a:ext cx="11846176" cy="708485"/>
          </a:xfrm>
          <a:prstGeom prst="roundRect">
            <a:avLst>
              <a:gd name="adj" fmla="val 14583"/>
            </a:avLst>
          </a:prstGeom>
          <a:solidFill>
            <a:srgbClr val="EAF4FC"/>
          </a:solidFill>
          <a:ln w="10160">
            <a:solidFill>
              <a:srgbClr val="E2E8F0"/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24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根据最终的实验结果，推荐使用</a:t>
            </a:r>
            <a:r>
              <a:rPr lang="en-US" altLang="zh-CN" sz="24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AES-256-GCM</a:t>
            </a:r>
            <a:r>
              <a:rPr lang="zh-CN" altLang="en-US" sz="24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算法</a:t>
            </a:r>
            <a:r>
              <a:rPr lang="en-US" altLang="zh-CN" sz="24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+O3</a:t>
            </a:r>
            <a:r>
              <a:rPr lang="zh-CN" altLang="en-US" sz="24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优化</a:t>
            </a:r>
            <a:r>
              <a:rPr lang="en-US" altLang="zh-CN" sz="24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+</a:t>
            </a:r>
            <a:r>
              <a:rPr lang="en-US" altLang="zh-CN" sz="2400" b="1" dirty="0" err="1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</a:rPr>
              <a:t>in-place+ctxreuse</a:t>
            </a:r>
            <a:endParaRPr lang="zh-CN" altLang="en-US" sz="2400" b="1" dirty="0">
              <a:solidFill>
                <a:srgbClr val="2D3748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619A367F-1908-C7EB-8373-D504F9689A1D}"/>
              </a:ext>
            </a:extLst>
          </p:cNvPr>
          <p:cNvSpPr/>
          <p:nvPr/>
        </p:nvSpPr>
        <p:spPr>
          <a:xfrm>
            <a:off x="5920622" y="4766663"/>
            <a:ext cx="345989" cy="636226"/>
          </a:xfrm>
          <a:prstGeom prst="down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FF00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961709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5E36B2-5267-F827-66A0-16787D3EB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A5F995-1B12-D92E-203A-20D8E5236703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E467CCC-426A-FE80-9AC6-DA5CE850BE68}"/>
              </a:ext>
            </a:extLst>
          </p:cNvPr>
          <p:cNvSpPr/>
          <p:nvPr/>
        </p:nvSpPr>
        <p:spPr>
          <a:xfrm>
            <a:off x="-566928" y="-512064"/>
            <a:ext cx="1572768" cy="1572768"/>
          </a:xfrm>
          <a:prstGeom prst="ellipse">
            <a:avLst/>
          </a:prstGeom>
          <a:solidFill>
            <a:srgbClr val="1A5F9E">
              <a:alpha val="8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4E3CDFA-444E-8C9A-AA73-DE0084B62BEF}"/>
              </a:ext>
            </a:extLst>
          </p:cNvPr>
          <p:cNvSpPr/>
          <p:nvPr/>
        </p:nvSpPr>
        <p:spPr>
          <a:xfrm>
            <a:off x="164592" y="18288"/>
            <a:ext cx="566928" cy="566928"/>
          </a:xfrm>
          <a:prstGeom prst="ellipse">
            <a:avLst/>
          </a:prstGeom>
          <a:solidFill>
            <a:srgbClr val="1A5F9E">
              <a:alpha val="12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1C687F8-7E44-BC0D-2BC0-427CAEB29E88}"/>
              </a:ext>
            </a:extLst>
          </p:cNvPr>
          <p:cNvSpPr/>
          <p:nvPr/>
        </p:nvSpPr>
        <p:spPr>
          <a:xfrm>
            <a:off x="10652760" y="5989320"/>
            <a:ext cx="1645920" cy="1645920"/>
          </a:xfrm>
          <a:prstGeom prst="ellipse">
            <a:avLst/>
          </a:prstGeom>
          <a:solidFill>
            <a:srgbClr val="1A5F9E">
              <a:alpha val="8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9ED76CD-3B11-718F-06BB-84A6A28170CA}"/>
              </a:ext>
            </a:extLst>
          </p:cNvPr>
          <p:cNvSpPr/>
          <p:nvPr/>
        </p:nvSpPr>
        <p:spPr>
          <a:xfrm>
            <a:off x="10927080" y="6272784"/>
            <a:ext cx="685800" cy="685800"/>
          </a:xfrm>
          <a:prstGeom prst="ellipse">
            <a:avLst/>
          </a:prstGeom>
          <a:solidFill>
            <a:srgbClr val="1A5F9E">
              <a:alpha val="12000"/>
            </a:srgbClr>
          </a:solidFill>
          <a:ln w="12700">
            <a:solidFill>
              <a:srgbClr val="1A5F9E">
                <a:alpha val="0"/>
              </a:srgbClr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856EF2B-36B8-F67F-5C50-DD556F918A0D}"/>
              </a:ext>
            </a:extLst>
          </p:cNvPr>
          <p:cNvSpPr/>
          <p:nvPr/>
        </p:nvSpPr>
        <p:spPr>
          <a:xfrm>
            <a:off x="2314191" y="2760129"/>
            <a:ext cx="7563312" cy="13377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altLang="zh-CN" sz="88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r>
              <a:rPr lang="zh-CN" altLang="en-US" sz="8800" b="1" dirty="0">
                <a:solidFill>
                  <a:srgbClr val="1A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！</a:t>
            </a:r>
            <a:endParaRPr lang="en-US" sz="8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3F47EC4-8579-67F8-E0E1-DB32838E091C}"/>
              </a:ext>
            </a:extLst>
          </p:cNvPr>
          <p:cNvSpPr/>
          <p:nvPr/>
        </p:nvSpPr>
        <p:spPr>
          <a:xfrm>
            <a:off x="5577840" y="64922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26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273071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1889</Words>
  <Application>Microsoft Office PowerPoint</Application>
  <PresentationFormat>宽屏</PresentationFormat>
  <Paragraphs>283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0" baseType="lpstr">
      <vt:lpstr>Microsoft YaHei</vt:lpstr>
      <vt:lpstr>Arial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 算子在 Kunpeng ARM + Linux 平台上的性能优化</dc:title>
  <dc:subject>CRYPT 算子在 Kunpeng ARM + Linux 平台上的性能优化</dc:subject>
  <dc:creator>Codex</dc:creator>
  <cp:lastModifiedBy>雨落山前- -</cp:lastModifiedBy>
  <cp:revision>9</cp:revision>
  <dcterms:created xsi:type="dcterms:W3CDTF">2026-04-29T15:13:13Z</dcterms:created>
  <dcterms:modified xsi:type="dcterms:W3CDTF">2026-05-05T14:18:19Z</dcterms:modified>
</cp:coreProperties>
</file>